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3AE4_C4905426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omments/modernComment_7FFFDBB9_37431A2F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8"/>
  </p:notesMasterIdLst>
  <p:sldIdLst>
    <p:sldId id="15076" r:id="rId6"/>
    <p:sldId id="21474743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DFEB21-CFDA-3C1B-7ACC-22A7B724B001}" name="Juan Fernando Cardozo Bohorquez" initials="JC" userId="S::jcardozo@camacol.org.co::77be3ac0-b86e-40b8-9a26-78cb499008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Peña Oquendo" userId="647bcffa-acf4-436a-8466-afe0de332068" providerId="ADAL" clId="{1B1D2C0D-B5A9-42FC-AE80-05E4E5D0C69F}"/>
    <pc:docChg chg="modSld">
      <pc:chgData name="Daniela Peña Oquendo" userId="647bcffa-acf4-436a-8466-afe0de332068" providerId="ADAL" clId="{1B1D2C0D-B5A9-42FC-AE80-05E4E5D0C69F}" dt="2025-11-18T16:45:03.420" v="3" actId="27918"/>
      <pc:docMkLst>
        <pc:docMk/>
      </pc:docMkLst>
      <pc:sldChg chg="mod">
        <pc:chgData name="Daniela Peña Oquendo" userId="647bcffa-acf4-436a-8466-afe0de332068" providerId="ADAL" clId="{1B1D2C0D-B5A9-42FC-AE80-05E4E5D0C69F}" dt="2025-11-18T16:45:03.420" v="3" actId="27918"/>
        <pc:sldMkLst>
          <pc:docMk/>
          <pc:sldMk cId="3297793062" sldId="1507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Hoja1!$B$4</c:f>
              <c:strCache>
                <c:ptCount val="1"/>
                <c:pt idx="0">
                  <c:v>I-2023</c:v>
                </c:pt>
              </c:strCache>
            </c:strRef>
          </c:tx>
          <c:spPr>
            <a:solidFill>
              <a:srgbClr val="00B050">
                <a:alpha val="40000"/>
              </a:srgbClr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Hoja1!$C$4:$G$4</c:f>
              <c:numCache>
                <c:formatCode>0.0%</c:formatCode>
                <c:ptCount val="5"/>
                <c:pt idx="0">
                  <c:v>2.6198905572367863E-2</c:v>
                </c:pt>
                <c:pt idx="1">
                  <c:v>-2.2336585803269741E-2</c:v>
                </c:pt>
                <c:pt idx="2">
                  <c:v>2.8973125946132824E-2</c:v>
                </c:pt>
                <c:pt idx="3">
                  <c:v>2.1000000000000001E-2</c:v>
                </c:pt>
                <c:pt idx="4">
                  <c:v>5.5977503439129495E-2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B0-4EE6-88D9-D43462431FAA}"/>
            </c:ext>
          </c:extLst>
        </c:ser>
        <c:ser>
          <c:idx val="1"/>
          <c:order val="1"/>
          <c:tx>
            <c:strRef>
              <c:f>Hoja1!$B$5</c:f>
              <c:strCache>
                <c:ptCount val="1"/>
                <c:pt idx="0">
                  <c:v>II-2023</c:v>
                </c:pt>
              </c:strCache>
            </c:strRef>
          </c:tx>
          <c:spPr>
            <a:solidFill>
              <a:srgbClr val="00B050">
                <a:alpha val="60000"/>
              </a:srgbClr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Hoja1!$C$5:$G$5</c:f>
              <c:numCache>
                <c:formatCode>0.0%</c:formatCode>
                <c:ptCount val="5"/>
                <c:pt idx="0">
                  <c:v>4.082902536682695E-3</c:v>
                </c:pt>
                <c:pt idx="1">
                  <c:v>-1.6527686508445213E-2</c:v>
                </c:pt>
                <c:pt idx="2">
                  <c:v>4.905474484032453E-2</c:v>
                </c:pt>
                <c:pt idx="3">
                  <c:v>-8.0000000000000002E-3</c:v>
                </c:pt>
                <c:pt idx="4">
                  <c:v>-6.1847043410350008E-2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B0-4EE6-88D9-D43462431FAA}"/>
            </c:ext>
          </c:extLst>
        </c:ser>
        <c:ser>
          <c:idx val="2"/>
          <c:order val="2"/>
          <c:tx>
            <c:strRef>
              <c:f>Hoja1!$B$6</c:f>
              <c:strCache>
                <c:ptCount val="1"/>
                <c:pt idx="0">
                  <c:v>III-2023</c:v>
                </c:pt>
              </c:strCache>
            </c:strRef>
          </c:tx>
          <c:spPr>
            <a:solidFill>
              <a:srgbClr val="00B050">
                <a:alpha val="80000"/>
              </a:srgbClr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Hoja1!$C$6:$G$6</c:f>
              <c:numCache>
                <c:formatCode>0.0%</c:formatCode>
                <c:ptCount val="5"/>
                <c:pt idx="0">
                  <c:v>-6.4314625554825963E-3</c:v>
                </c:pt>
                <c:pt idx="1">
                  <c:v>-7.4799926005226641E-2</c:v>
                </c:pt>
                <c:pt idx="2">
                  <c:v>-4.898155664357489E-2</c:v>
                </c:pt>
                <c:pt idx="3">
                  <c:v>-7.6999999999999999E-2</c:v>
                </c:pt>
                <c:pt idx="4">
                  <c:v>-8.8019634399262692E-2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B0-4EE6-88D9-D43462431FAA}"/>
            </c:ext>
          </c:extLst>
        </c:ser>
        <c:ser>
          <c:idx val="3"/>
          <c:order val="3"/>
          <c:tx>
            <c:strRef>
              <c:f>Hoja1!$B$7</c:f>
              <c:strCache>
                <c:ptCount val="1"/>
                <c:pt idx="0">
                  <c:v>IV-2023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Hoja1!$C$7:$G$7</c:f>
              <c:numCache>
                <c:formatCode>0.0%</c:formatCode>
                <c:ptCount val="5"/>
                <c:pt idx="0">
                  <c:v>5.946381109897203E-3</c:v>
                </c:pt>
                <c:pt idx="1">
                  <c:v>-1.103859708900785E-2</c:v>
                </c:pt>
                <c:pt idx="2">
                  <c:v>-1.0910900744329695E-2</c:v>
                </c:pt>
                <c:pt idx="3">
                  <c:v>-3.5000000000000003E-2</c:v>
                </c:pt>
                <c:pt idx="4">
                  <c:v>-7.70604672024605E-2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B0-4EE6-88D9-D43462431FAA}"/>
            </c:ext>
          </c:extLst>
        </c:ser>
        <c:ser>
          <c:idx val="4"/>
          <c:order val="4"/>
          <c:tx>
            <c:strRef>
              <c:f>Hoja1!$B$8</c:f>
              <c:strCache>
                <c:ptCount val="1"/>
                <c:pt idx="0">
                  <c:v>I-2024</c:v>
                </c:pt>
              </c:strCache>
            </c:strRef>
          </c:tx>
          <c:spPr>
            <a:solidFill>
              <a:srgbClr val="002060">
                <a:alpha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Hoja1!$C$8:$G$8</c:f>
              <c:numCache>
                <c:formatCode>0.0%</c:formatCode>
                <c:ptCount val="5"/>
                <c:pt idx="0">
                  <c:v>2.6666756450386231E-3</c:v>
                </c:pt>
                <c:pt idx="1">
                  <c:v>1.0155004489044757E-2</c:v>
                </c:pt>
                <c:pt idx="2">
                  <c:v>-2.2298656464106729E-2</c:v>
                </c:pt>
                <c:pt idx="3">
                  <c:v>-5.2999999999999999E-2</c:v>
                </c:pt>
                <c:pt idx="4">
                  <c:v>-6.354584630183098E-2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B0-4EE6-88D9-D43462431FAA}"/>
            </c:ext>
          </c:extLst>
        </c:ser>
        <c:ser>
          <c:idx val="5"/>
          <c:order val="5"/>
          <c:tx>
            <c:strRef>
              <c:f>Hoja1!$B$9</c:f>
              <c:strCache>
                <c:ptCount val="1"/>
                <c:pt idx="0">
                  <c:v>II-2024</c:v>
                </c:pt>
              </c:strCache>
            </c:strRef>
          </c:tx>
          <c:spPr>
            <a:solidFill>
              <a:srgbClr val="002060">
                <a:alpha val="60000"/>
              </a:srgbClr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Hoja1!$C$9:$G$9</c:f>
              <c:numCache>
                <c:formatCode>0.0%</c:formatCode>
                <c:ptCount val="5"/>
                <c:pt idx="0">
                  <c:v>1.6913320982721417E-2</c:v>
                </c:pt>
                <c:pt idx="1">
                  <c:v>2.1358384677087939E-2</c:v>
                </c:pt>
                <c:pt idx="2">
                  <c:v>-3.0840891086650401E-2</c:v>
                </c:pt>
                <c:pt idx="3">
                  <c:v>-2.9000000000000001E-2</c:v>
                </c:pt>
                <c:pt idx="4">
                  <c:v>-1.3689795180854248E-2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8B0-4EE6-88D9-D43462431FAA}"/>
            </c:ext>
          </c:extLst>
        </c:ser>
        <c:ser>
          <c:idx val="6"/>
          <c:order val="6"/>
          <c:tx>
            <c:strRef>
              <c:f>Hoja1!$B$10</c:f>
              <c:strCache>
                <c:ptCount val="1"/>
                <c:pt idx="0">
                  <c:v>III-2024</c:v>
                </c:pt>
              </c:strCache>
            </c:strRef>
          </c:tx>
          <c:spPr>
            <a:solidFill>
              <a:srgbClr val="002060">
                <a:alpha val="80000"/>
              </a:srgbClr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Hoja1!$C$10:$G$10</c:f>
              <c:numCache>
                <c:formatCode>0.0%</c:formatCode>
                <c:ptCount val="5"/>
                <c:pt idx="0">
                  <c:v>1.7902533165722757E-2</c:v>
                </c:pt>
                <c:pt idx="1">
                  <c:v>4.1235853566331568E-2</c:v>
                </c:pt>
                <c:pt idx="2">
                  <c:v>-1.2706810351904352E-2</c:v>
                </c:pt>
                <c:pt idx="3">
                  <c:v>-2.5000000000000001E-2</c:v>
                </c:pt>
                <c:pt idx="4">
                  <c:v>-6.9881931963144128E-2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B0-4EE6-88D9-D43462431FAA}"/>
            </c:ext>
          </c:extLst>
        </c:ser>
        <c:ser>
          <c:idx val="7"/>
          <c:order val="7"/>
          <c:tx>
            <c:strRef>
              <c:f>Hoja1!$B$11</c:f>
              <c:strCache>
                <c:ptCount val="1"/>
                <c:pt idx="0">
                  <c:v>IV-2024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Hoja1!$C$11:$G$11</c:f>
              <c:numCache>
                <c:formatCode>0.0%</c:formatCode>
                <c:ptCount val="5"/>
                <c:pt idx="0">
                  <c:v>2.5412148072317536E-2</c:v>
                </c:pt>
                <c:pt idx="1">
                  <c:v>4.4426017109609004E-3</c:v>
                </c:pt>
                <c:pt idx="2">
                  <c:v>-3.221102283402473E-2</c:v>
                </c:pt>
                <c:pt idx="3">
                  <c:v>-5.8000000000000003E-2</c:v>
                </c:pt>
                <c:pt idx="4">
                  <c:v>4.7859473069130444E-2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E-4018-9C45-BAC0D7B46514}"/>
            </c:ext>
          </c:extLst>
        </c:ser>
        <c:ser>
          <c:idx val="8"/>
          <c:order val="8"/>
          <c:tx>
            <c:strRef>
              <c:f>Hoja1!$B$12</c:f>
              <c:strCache>
                <c:ptCount val="1"/>
                <c:pt idx="0">
                  <c:v>I-2025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Hoja1!$C$3:$G$3</c:f>
              <c:strCache>
                <c:ptCount val="5"/>
                <c:pt idx="0">
                  <c:v>PIB total</c:v>
                </c:pt>
                <c:pt idx="1">
                  <c:v>Construcción</c:v>
                </c:pt>
                <c:pt idx="2">
                  <c:v>Edificaciones</c:v>
                </c:pt>
                <c:pt idx="3">
                  <c:v>Producción residencial</c:v>
                </c:pt>
                <c:pt idx="4">
                  <c:v>Inversión en vivienda</c:v>
                </c:pt>
              </c:strCache>
            </c:strRef>
          </c:cat>
          <c:val>
            <c:numRef>
              <c:f>Hoja1!$C$12:$G$12</c:f>
              <c:numCache>
                <c:formatCode>0.0%</c:formatCode>
                <c:ptCount val="5"/>
                <c:pt idx="0" formatCode="0.00%">
                  <c:v>2.6992119766904778E-2</c:v>
                </c:pt>
                <c:pt idx="1">
                  <c:v>-3.5080944670438187E-2</c:v>
                </c:pt>
                <c:pt idx="2" formatCode="0%">
                  <c:v>-7.0023552352357119E-2</c:v>
                </c:pt>
                <c:pt idx="3" formatCode="0.00%">
                  <c:v>-5.7000000000000002E-2</c:v>
                </c:pt>
                <c:pt idx="4">
                  <c:v>-8.631699835519796E-2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11-4219-976F-7B0E085A8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7"/>
        <c:axId val="45402207"/>
        <c:axId val="45406047"/>
      </c:barChart>
      <c:catAx>
        <c:axId val="454022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45406047"/>
        <c:crosses val="autoZero"/>
        <c:auto val="1"/>
        <c:lblAlgn val="ctr"/>
        <c:lblOffset val="100"/>
        <c:noMultiLvlLbl val="0"/>
      </c:catAx>
      <c:valAx>
        <c:axId val="45406047"/>
        <c:scaling>
          <c:orientation val="minMax"/>
          <c:max val="0.1"/>
          <c:min val="-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45402207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3AE4_C49054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33410B-FA8A-437D-A51D-2A900BB94232}" authorId="{0EDFEB21-CFDA-3C1B-7ACC-22A7B724B001}" created="2025-05-16T13:40:47.5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97793062" sldId="15076"/>
      <ac:graphicFrameMk id="8" creationId="{57889BC9-1152-455D-B97B-E5CEB9B92C40}"/>
    </ac:deMkLst>
    <p188:txBody>
      <a:bodyPr/>
      <a:lstStyle/>
      <a:p>
        <a:r>
          <a:rPr lang="es-CO"/>
          <a:t>- La producción residencial fue actualizada con los datos del anexo técnico. En el anexo solo se encuentra la información del trimestre, no la histórica, por tanto solo fue actualizado el trimestre I - 2025, no los anteriores.
- El histórico de inversión de vivienda fue extraído de la formación bruta de capital de trabajo.</a:t>
        </a:r>
      </a:p>
    </p188:txBody>
  </p188:cm>
</p188:cmLst>
</file>

<file path=ppt/comments/modernComment_7FFFDBB9_37431A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EF735E-FD8B-43E0-819A-FD84F9477C37}" authorId="{0EDFEB21-CFDA-3C1B-7ACC-22A7B724B001}" created="2025-05-16T14:28:12.15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27144495" sldId="2147474361"/>
      <ac:graphicFrameMk id="6" creationId="{54EE39B3-4566-2E00-B573-7BFE02CB690B}"/>
    </ac:deMkLst>
    <p188:txBody>
      <a:bodyPr/>
      <a:lstStyle/>
      <a:p>
        <a:r>
          <a:rPr lang="es-CO"/>
          <a:t>Las mismas observaciones de la diapositiva anterior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62074-EC17-4D33-9CD0-FE74318A6A81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8ABA7-923A-4E30-AF96-2502EB1552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164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38A4CBB-34E0-8182-94A3-E68EDA58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C93FF99-AEAC-9130-2A0C-0F9BD7DAC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746439A-BF6D-2F8A-AFA0-64061BB9B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8934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978CFD3-64ED-E0B2-41B5-A8F2A25C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4D1B225-8F73-D98C-8C10-CB866F733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B1CC94C-E72E-E4D1-60FF-FAB693282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185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E7B4-1177-8B12-7421-1E097B71F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302C3-4D2C-F2D0-08B1-057A362ED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3AD4A-3829-354A-DA24-3BCCBAA1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B66BA-6D5E-99B8-EFD9-D245F776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E0DE37-85D3-917E-CF1B-E3128F7B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003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FF609-0BC1-6734-1386-A87154A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97543-B8E6-932A-0977-08D15E6C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D9F70-48D3-0E59-077D-445C06F0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83320D-B26E-A16F-3C3F-E750E7D3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EC084-2EA4-BADD-8A47-BFA2898E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83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6BAA8-CD93-2121-DCE9-E7D46909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7F0188-D1AF-03DB-69ED-372151698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B6D7D-078A-5795-1B9D-446F322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E760E-C749-4BA3-E3A2-0E4152B1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82ED12-2CAC-A123-95C7-AE343446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200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92F4E-9635-8E14-1F57-9903C3A0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3E32E-2BCE-35CB-A6EF-93A6108E0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80F746-A486-526A-6769-1A50F353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D9092-C580-4291-A4E9-7BE0025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4088CA-BCE1-941C-1106-13C541EC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198F7-7FB9-4CA8-11A9-EAA448A8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321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ABC8-CEBD-F018-6E8A-CA28CBC1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037FA-34EA-1710-E61F-C21AE739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940C00-D6B9-94EE-2E36-316E9535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313F7B-988D-DB9F-CF30-A20D8094F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5AA9E8-3367-03C7-305A-2F801889A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C76B09-F790-65C3-52B8-948D2CE4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8E238A-DC0A-108B-C1BE-B70EFBEC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DDAA7-B29F-092F-4222-23ACF06A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212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420C3-E660-71F4-355B-DF4B544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0EB493-0A83-C268-78DC-0F37D5B1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A2CAF7-65EB-15C6-237F-52F337F5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788FC-2384-3285-8028-5FBD7682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267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E0D069-ADDE-5C61-E160-EADDD70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EAFD67-35C8-D0A5-1C70-2F99A626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62AA3-14FC-344A-F5C5-D52D09B1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429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E0F95-CAC8-DF77-E4E6-87FD3361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C58EB-955D-2C1E-C0CF-481710C3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6C536-F7F8-A40F-DC34-29F4C7B0D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C5F1AA-42E9-7AF5-9E5C-DD312C47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A5D3C9-F4D6-878F-4F19-E3075DB9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19D988-91B2-1818-3A9E-C53B65E4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331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13263-2E5B-54B5-78CB-86F0463B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6AA091-6787-2AAC-8C90-CCB3CCB7E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81275E-133A-0891-23B7-628BF1F3E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5E5181-DD43-323D-09A5-47F14D58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F7CA6-3BD4-752E-5B9C-7DEEC2EC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461DF-645C-CAD4-E642-11F34267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520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CFAB-CEED-7652-9DF6-FBA27677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BE15FF-ED81-E1D3-1487-E357D0E2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59AE5D-65A8-5092-0216-6A4284C0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835BD-48C2-5912-FC89-5B2CEC47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F9ECD-546A-1A72-9A9E-846795A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949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0C4EE3-8FAF-B38D-A17B-63984ABF9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07EEAF-FC1D-3A1B-FFF2-47C27AB4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03979-D145-098D-E8DF-4D67B7F1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45B01-677C-FD7A-4FFD-7FC5F0F5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35612-B3BC-236D-463A-A8918457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19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0 Rectángulo"/>
          <p:cNvSpPr/>
          <p:nvPr/>
        </p:nvSpPr>
        <p:spPr>
          <a:xfrm>
            <a:off x="1206500" y="2928938"/>
            <a:ext cx="9753600" cy="1998662"/>
          </a:xfrm>
          <a:prstGeom prst="rect">
            <a:avLst/>
          </a:prstGeom>
          <a:noFill/>
          <a:ln w="6350" cap="rnd" cmpd="sng" algn="ctr">
            <a:solidFill>
              <a:srgbClr val="00206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5" name="32 Rectángulo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21 Rectángulo"/>
          <p:cNvSpPr/>
          <p:nvPr/>
        </p:nvSpPr>
        <p:spPr>
          <a:xfrm>
            <a:off x="1206500" y="2928938"/>
            <a:ext cx="304800" cy="1998662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31 Rectángulo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2" y="357188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  <a:ln>
            <a:solidFill>
              <a:srgbClr val="002060"/>
            </a:solidFill>
          </a:ln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>
                <a:latin typeface="Cambria" pitchFamily="18" charset="0"/>
              </a:defRPr>
            </a:lvl1pPr>
          </a:lstStyle>
          <a:p>
            <a:fld id="{EA7E7A28-9CBE-488D-A044-360D4A5C61A4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Cambria" pitchFamily="18" charset="0"/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276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6DAAB-7686-4777-BAD8-9FCB2EAA7BD9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8669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37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8D5190-5B6A-42EA-B544-E5C36AF2B686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7936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Rectángulo"/>
          <p:cNvSpPr/>
          <p:nvPr/>
        </p:nvSpPr>
        <p:spPr>
          <a:xfrm>
            <a:off x="1219200" y="2819403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5" name="7 Rectángulo"/>
          <p:cNvSpPr/>
          <p:nvPr/>
        </p:nvSpPr>
        <p:spPr>
          <a:xfrm>
            <a:off x="1219200" y="2819403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3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F672D3A7-00E7-4FE2-9DB9-CFD1BCE0E375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26635" y="6354763"/>
            <a:ext cx="2027767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7308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76AE7-AAFB-4ABC-BA6C-6F4DD6FB796F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9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10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4200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4" name="11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1D5D7A-95B4-43EE-916D-9D11F2E5C2C7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6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7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3907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  <a:latin typeface="+mn-lt"/>
              <a:cs typeface="Arial" charset="0"/>
            </a:endParaRPr>
          </a:p>
        </p:txBody>
      </p:sp>
      <p:sp>
        <p:nvSpPr>
          <p:cNvPr id="6" name="8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9 Rectángulo"/>
          <p:cNvSpPr/>
          <p:nvPr/>
        </p:nvSpPr>
        <p:spPr>
          <a:xfrm>
            <a:off x="609602" y="500063"/>
            <a:ext cx="243417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6640AA76-5206-48CF-BC1A-B391B74D03DD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9815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208895-4142-4A9C-956F-2F013C2FEFF8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1019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5" name="7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8 Conector recto"/>
          <p:cNvSpPr>
            <a:spLocks noChangeShapeType="1"/>
          </p:cNvSpPr>
          <p:nvPr/>
        </p:nvSpPr>
        <p:spPr bwMode="auto">
          <a:xfrm rot="5400000">
            <a:off x="581607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pic>
        <p:nvPicPr>
          <p:cNvPr id="7" name="14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65B9C9-021C-4702-B1EB-2CD8E589DDD1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9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 dirty="0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47602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7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928813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1" y="1928805"/>
            <a:ext cx="6438907" cy="4197361"/>
          </a:xfrm>
        </p:spPr>
        <p:txBody>
          <a:bodyPr/>
          <a:lstStyle>
            <a:lvl1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1pPr>
            <a:lvl2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2pPr>
            <a:lvl3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3pPr>
            <a:lvl4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22067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8715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68195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71854B-D013-8220-051B-0EC1460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97E48-B49B-12F7-3D1F-0DC77F81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36B671-959B-7791-CB83-FAF8024E0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6E00F2-3476-04F9-1941-3C623B12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C646D-D95B-2E56-88C3-6065EB391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33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1 Marcador de título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171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534402" y="6356353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21E0B505-AEE0-4625-8B8E-4D7C26659098}" type="datetime1">
              <a:rPr lang="es-CO" smtClean="0"/>
              <a:pPr/>
              <a:t>18/11/2025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865033" y="6356353"/>
            <a:ext cx="467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464653"/>
                </a:solidFill>
                <a:latin typeface="Cambria" pitchFamily="18" charset="0"/>
                <a:cs typeface="Arial" charset="0"/>
              </a:defRPr>
            </a:lvl1pPr>
          </a:lstStyle>
          <a:p>
            <a:endParaRPr lang="es-CO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033" y="6356353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4786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D0D0D"/>
          </a:solidFill>
          <a:latin typeface="Cambria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Cambria" pitchFamily="18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AE4_C490542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BB9_37431A2F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FC36292C-FFB0-311B-16AF-9F3EF216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7687C118-B8C7-2088-1933-7F45E7D98B15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9CB57188-C2C6-C089-16D4-A441D0EA2EB5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C4008008-6A21-E5DE-113D-558639D317B1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0E37A527-BA27-2DF6-B242-EE47870B582E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9C99662-30E7-9B27-610B-E4BD6210C730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F5A8B2-7EE8-C344-42BA-BE4763A5CCDA}"/>
              </a:ext>
            </a:extLst>
          </p:cNvPr>
          <p:cNvSpPr txBox="1"/>
          <p:nvPr/>
        </p:nvSpPr>
        <p:spPr>
          <a:xfrm>
            <a:off x="934719" y="5953037"/>
            <a:ext cx="11157176" cy="4154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El valor agregado del sector edificador completa siete trimestres de contracciones anuales consecutivas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934949-2839-6D45-11C1-E2BDD28A5E58}"/>
              </a:ext>
            </a:extLst>
          </p:cNvPr>
          <p:cNvSpPr txBox="1"/>
          <p:nvPr/>
        </p:nvSpPr>
        <p:spPr>
          <a:xfrm>
            <a:off x="2328600" y="302496"/>
            <a:ext cx="8474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Resultados de los principales indicadores medidos por las cuentas nacionales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Variaciones anuales de cada trimestre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39A0DC9-6A7A-0EDA-E0F2-81974884A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57889BC9-1152-455D-B97B-E5CEB9B92C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9939135"/>
              </p:ext>
            </p:extLst>
          </p:nvPr>
        </p:nvGraphicFramePr>
        <p:xfrm>
          <a:off x="1473307" y="1035777"/>
          <a:ext cx="10080000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97793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08E32321-706F-DE18-AC6A-58E97419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B5B6A4D9-84ED-DB45-18C3-7E4A3D875AB2}"/>
              </a:ext>
            </a:extLst>
          </p:cNvPr>
          <p:cNvGrpSpPr/>
          <p:nvPr/>
        </p:nvGrpSpPr>
        <p:grpSpPr>
          <a:xfrm>
            <a:off x="-1016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64E4A1C2-3B60-C86B-3313-1653AE584DB4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AFD367AE-F007-1453-4DBA-71105235A39E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44AF70EB-2926-98DB-2A77-6C8B775190F5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1902C47-8906-6920-DA28-862ABC551F25}"/>
              </a:ext>
            </a:extLst>
          </p:cNvPr>
          <p:cNvSpPr txBox="1"/>
          <p:nvPr/>
        </p:nvSpPr>
        <p:spPr>
          <a:xfrm>
            <a:off x="841922" y="658612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C4BCD0-F5E1-77EE-CEB8-5B8A38AFCC29}"/>
              </a:ext>
            </a:extLst>
          </p:cNvPr>
          <p:cNvSpPr txBox="1"/>
          <p:nvPr/>
        </p:nvSpPr>
        <p:spPr>
          <a:xfrm>
            <a:off x="2328600" y="33050"/>
            <a:ext cx="8474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Balance de los principales indicadores medidos por las cuentas nacionales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Variaciones anuales de cada trimestre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4EE39B3-4566-2E00-B573-7BFE02CB6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30961"/>
              </p:ext>
            </p:extLst>
          </p:nvPr>
        </p:nvGraphicFramePr>
        <p:xfrm>
          <a:off x="1415336" y="638978"/>
          <a:ext cx="10134407" cy="5920225"/>
        </p:xfrm>
        <a:graphic>
          <a:graphicData uri="http://schemas.openxmlformats.org/drawingml/2006/table">
            <a:tbl>
              <a:tblPr firstRow="1" bandRow="1"/>
              <a:tblGrid>
                <a:gridCol w="1246553">
                  <a:extLst>
                    <a:ext uri="{9D8B030D-6E8A-4147-A177-3AD203B41FA5}">
                      <a16:colId xmlns:a16="http://schemas.microsoft.com/office/drawing/2014/main" val="2389842315"/>
                    </a:ext>
                  </a:extLst>
                </a:gridCol>
                <a:gridCol w="1076457">
                  <a:extLst>
                    <a:ext uri="{9D8B030D-6E8A-4147-A177-3AD203B41FA5}">
                      <a16:colId xmlns:a16="http://schemas.microsoft.com/office/drawing/2014/main" val="843725186"/>
                    </a:ext>
                  </a:extLst>
                </a:gridCol>
                <a:gridCol w="1416649">
                  <a:extLst>
                    <a:ext uri="{9D8B030D-6E8A-4147-A177-3AD203B41FA5}">
                      <a16:colId xmlns:a16="http://schemas.microsoft.com/office/drawing/2014/main" val="3063334378"/>
                    </a:ext>
                  </a:extLst>
                </a:gridCol>
                <a:gridCol w="1085920">
                  <a:extLst>
                    <a:ext uri="{9D8B030D-6E8A-4147-A177-3AD203B41FA5}">
                      <a16:colId xmlns:a16="http://schemas.microsoft.com/office/drawing/2014/main" val="933644719"/>
                    </a:ext>
                  </a:extLst>
                </a:gridCol>
                <a:gridCol w="1407186">
                  <a:extLst>
                    <a:ext uri="{9D8B030D-6E8A-4147-A177-3AD203B41FA5}">
                      <a16:colId xmlns:a16="http://schemas.microsoft.com/office/drawing/2014/main" val="1807360872"/>
                    </a:ext>
                  </a:extLst>
                </a:gridCol>
                <a:gridCol w="1246553">
                  <a:extLst>
                    <a:ext uri="{9D8B030D-6E8A-4147-A177-3AD203B41FA5}">
                      <a16:colId xmlns:a16="http://schemas.microsoft.com/office/drawing/2014/main" val="4279222595"/>
                    </a:ext>
                  </a:extLst>
                </a:gridCol>
                <a:gridCol w="1246553">
                  <a:extLst>
                    <a:ext uri="{9D8B030D-6E8A-4147-A177-3AD203B41FA5}">
                      <a16:colId xmlns:a16="http://schemas.microsoft.com/office/drawing/2014/main" val="579723660"/>
                    </a:ext>
                  </a:extLst>
                </a:gridCol>
                <a:gridCol w="1408536">
                  <a:extLst>
                    <a:ext uri="{9D8B030D-6E8A-4147-A177-3AD203B41FA5}">
                      <a16:colId xmlns:a16="http://schemas.microsoft.com/office/drawing/2014/main" val="3489129391"/>
                    </a:ext>
                  </a:extLst>
                </a:gridCol>
              </a:tblGrid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Trimestre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PIB total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PIB construcción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Obras Civiles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PIB edificaciones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Producción residencial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Inversión en vivienda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s-CO" sz="1600" b="1" dirty="0">
                          <a:solidFill>
                            <a:schemeClr val="bg1"/>
                          </a:solidFill>
                          <a:latin typeface="Dosis" pitchFamily="2" charset="0"/>
                        </a:rPr>
                        <a:t>Producción no residencial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07008"/>
                  </a:ext>
                </a:extLst>
              </a:tr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s-CO" sz="1400">
                          <a:latin typeface="Dosis" pitchFamily="2" charset="0"/>
                        </a:rPr>
                        <a:t>1T – 2023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2,6%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-2,2%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-14,5%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2,9%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2,1%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5,6%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3,9%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944231"/>
                  </a:ext>
                </a:extLst>
              </a:tr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>
                          <a:latin typeface="Dosis" pitchFamily="2" charset="0"/>
                        </a:rPr>
                        <a:t>2T – 2023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0,4%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-17,2%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4,9%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-0,8%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-6,2%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12,9%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760681"/>
                  </a:ext>
                </a:extLst>
              </a:tr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>
                          <a:latin typeface="Dosis" pitchFamily="2" charset="0"/>
                        </a:rPr>
                        <a:t>3T – 2023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-0,6%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-7,5%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-15,3%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-4,9%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-7,7%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-8,8%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1,4%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356148"/>
                  </a:ext>
                </a:extLst>
              </a:tr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>
                          <a:latin typeface="Dosis" pitchFamily="2" charset="0"/>
                        </a:rPr>
                        <a:t>4T – 2023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0,6%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-3,2%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-3,5%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-7,7%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5,2%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303538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dirty="0">
                          <a:latin typeface="Dosis" pitchFamily="2" charset="0"/>
                        </a:rPr>
                        <a:t>2023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-3,1%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-12,6%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-2,5%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-4,4%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5,9%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443604"/>
                  </a:ext>
                </a:extLst>
              </a:tr>
              <a:tr h="485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Dosis" pitchFamily="2" charset="0"/>
                        </a:rPr>
                        <a:t>1T – 2024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0,3%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7,3%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-2,2%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-5,3%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-6,4%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0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3,8%</a:t>
                      </a:r>
                      <a:endParaRPr lang="es-CO" sz="140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35468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>
                          <a:latin typeface="Dosis" pitchFamily="2" charset="0"/>
                        </a:rPr>
                        <a:t>2T - 2024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2,1%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14,4%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-3,1%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-2,9%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-2,5%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31976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>
                          <a:latin typeface="Dosis" pitchFamily="2" charset="0"/>
                        </a:rPr>
                        <a:t>3T - 2024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4,1%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16,6%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-1,3%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-2,5%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-7,0%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0,2%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090046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dirty="0">
                          <a:latin typeface="Dosis" pitchFamily="2" charset="0"/>
                        </a:rPr>
                        <a:t>4T - 2024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2,5%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0,4%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8,8%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-3,2%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-5,8%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4,8%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3,1%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97837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dirty="0">
                          <a:latin typeface="Dosis" pitchFamily="2" charset="0"/>
                        </a:rPr>
                        <a:t>2024</a:t>
                      </a: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1,6%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1,9%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11,7%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-2,5%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-4,1%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-2,4%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1,2%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762981"/>
                  </a:ext>
                </a:extLst>
              </a:tr>
              <a:tr h="4855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dirty="0">
                          <a:latin typeface="Dosis" pitchFamily="2" charset="0"/>
                        </a:rPr>
                        <a:t>1T - 2025</a:t>
                      </a:r>
                      <a:endParaRPr lang="es-CO" sz="1400" b="0" dirty="0">
                        <a:latin typeface="Dosis" pitchFamily="2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2,7%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osis" pitchFamily="2" charset="0"/>
                          <a:ea typeface="+mn-ea"/>
                          <a:cs typeface="+mn-cs"/>
                        </a:rPr>
                        <a:t>-3,5%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3,8%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Dosis" pitchFamily="2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-7,0%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Dosis" pitchFamily="2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 b="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-5,7%</a:t>
                      </a:r>
                      <a:endParaRPr lang="es-CO" sz="1400" b="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osis" pitchFamily="2" charset="0"/>
                        </a:rPr>
                        <a:t>-8,6%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Dosis" pitchFamily="2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400" b="0" kern="100" dirty="0">
                          <a:effectLst/>
                          <a:latin typeface="Dosis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-10,1%</a:t>
                      </a:r>
                      <a:endParaRPr lang="es-CO" sz="1400" b="0" kern="100" dirty="0">
                        <a:effectLst/>
                        <a:latin typeface="Dosis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4646"/>
                  </a:ext>
                </a:extLst>
              </a:tr>
            </a:tbl>
          </a:graphicData>
        </a:graphic>
      </p:graphicFrame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9A82819-2CEC-6955-277E-8EAA04161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894FCC4-5162-7630-B9C7-5DE10B12677A}"/>
              </a:ext>
            </a:extLst>
          </p:cNvPr>
          <p:cNvSpPr/>
          <p:nvPr/>
        </p:nvSpPr>
        <p:spPr>
          <a:xfrm>
            <a:off x="6198583" y="668277"/>
            <a:ext cx="4017364" cy="589092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144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rigen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Personalizado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dde950a7fef6d7fd337daf91b9945bc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199340a829032c0052b44950f442a22c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2D155C-81C4-4459-A554-A8E3420DB6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0A82B4-1CF8-4A99-9FB0-753CDD288F06}">
  <ds:schemaRefs>
    <ds:schemaRef ds:uri="http://schemas.openxmlformats.org/package/2006/metadata/core-properties"/>
    <ds:schemaRef ds:uri="http://schemas.microsoft.com/office/2006/metadata/properties"/>
    <ds:schemaRef ds:uri="d62384bc-84af-4cee-9670-bdd7e3103028"/>
    <ds:schemaRef ds:uri="http://schemas.microsoft.com/sharepoint/v3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d07a1b0e-5e0d-4395-b8ed-6b7f4c24bf1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58496E-54D5-42C6-B384-E699FCE5F6D3}"/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306</Words>
  <Application>Microsoft Office PowerPoint</Application>
  <PresentationFormat>Panorámica</PresentationFormat>
  <Paragraphs>105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</vt:lpstr>
      <vt:lpstr>Dosis</vt:lpstr>
      <vt:lpstr>Wingdings</vt:lpstr>
      <vt:lpstr>Wingdings 3</vt:lpstr>
      <vt:lpstr>1_Tema de Office</vt:lpstr>
      <vt:lpstr>1_Origen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Nathaly Castro</dc:creator>
  <cp:lastModifiedBy>Daniela Peña Oquendo</cp:lastModifiedBy>
  <cp:revision>6</cp:revision>
  <dcterms:created xsi:type="dcterms:W3CDTF">2024-11-18T15:26:13Z</dcterms:created>
  <dcterms:modified xsi:type="dcterms:W3CDTF">2025-11-18T16:45:08Z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