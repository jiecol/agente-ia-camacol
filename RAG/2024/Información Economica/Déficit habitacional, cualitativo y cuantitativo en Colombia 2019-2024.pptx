
<file path=[Content_Types].xml><?xml version="1.0" encoding="utf-8"?>
<Types xmlns="http://schemas.openxmlformats.org/package/2006/content-types">
  <Default Extension="bin" ContentType="application/vnd.openxmlformats-officedocument.oleObject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2.xml" ContentType="application/vnd.openxmlformats-officedocument.themeOverr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heme/themeOverride3.xml" ContentType="application/vnd.openxmlformats-officedocument.themeOverr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heme/themeOverride4.xml" ContentType="application/vnd.openxmlformats-officedocument.themeOverr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theme/themeOverride5.xml" ContentType="application/vnd.openxmlformats-officedocument.themeOverr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theme/themeOverride6.xml" ContentType="application/vnd.openxmlformats-officedocument.themeOverride+xml"/>
  <Override PartName="/ppt/notesSlides/notesSlide1.xml" ContentType="application/vnd.openxmlformats-officedocument.presentationml.notesSlid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theme/themeOverride7.xml" ContentType="application/vnd.openxmlformats-officedocument.themeOverride+xml"/>
  <Override PartName="/ppt/notesSlides/notesSlide2.xml" ContentType="application/vnd.openxmlformats-officedocument.presentationml.notesSlid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theme/themeOverride8.xml" ContentType="application/vnd.openxmlformats-officedocument.themeOverride+xml"/>
  <Override PartName="/ppt/notesSlides/notesSlide3.xml" ContentType="application/vnd.openxmlformats-officedocument.presentationml.notesSlid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theme/themeOverride9.xml" ContentType="application/vnd.openxmlformats-officedocument.themeOverr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4"/>
  </p:notesMasterIdLst>
  <p:sldIdLst>
    <p:sldId id="15192" r:id="rId5"/>
    <p:sldId id="15195" r:id="rId6"/>
    <p:sldId id="15200" r:id="rId7"/>
    <p:sldId id="15194" r:id="rId8"/>
    <p:sldId id="15196" r:id="rId9"/>
    <p:sldId id="15201" r:id="rId10"/>
    <p:sldId id="15199" r:id="rId11"/>
    <p:sldId id="15197" r:id="rId12"/>
    <p:sldId id="15202" r:id="rId13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9B2DA06-9A58-58F1-FC34-FA4FF37E05B3}" name="Diego Fernando Montañez Herrera" initials="DM" userId="S::dmontanez@camacol.org.co::82695c21-d357-4296-ab2b-5452df8abee9" providerId="AD"/>
  <p188:author id="{DF6C9B09-5A4C-5D3F-6F68-5271C6F0ED91}" name="Maria Paula Moreno" initials="MM" userId="S::mpmoreno@camacol.org.co::7f06c5a4-f807-4a12-9115-03c525bf8f95" providerId="AD"/>
  <p188:author id="{F2F4BE36-0DEC-3D40-5F59-B14AB562BD62}" name="Nikolas Buitrago" initials="NB" userId="S::nbuitrago@camacol.org.co::600a14df-701f-4e65-9aae-8fb58f1f99d7" providerId="AD"/>
  <p188:author id="{66CAC048-3142-1D08-1318-CCDC4FBDF23A}" name="Margfoy, Melissa" initials="HM" userId="S::Melissa.Margfoy@jll.com::64b14aef-c1b9-4e50-bc92-62b6a6544dd1" providerId="AD"/>
  <p188:author id="{D3F9A058-4D7A-92FA-9FBB-84EECE9DA2EE}" name="Ana Carolina Oyuela" initials="AO" userId="S::acoyuela@alcaldiabogota.gov.co::5c905129-24af-470e-90f0-1eb454eb066f" providerId="AD"/>
  <p188:author id="{3967D360-DFDA-68EE-EEAA-2434BB3A97FF}" name="Torres, Rodrigo" initials="TR" userId="S::Rodrigo.Torres@jll.com::50ddc09c-c4d1-42c8-a756-2e96838f4328" providerId="AD"/>
  <p188:author id="{DC31E962-4295-EEDF-C57B-C18E80A34989}" name="Silvia Juliana Martínez Camacho" initials="SM" userId="S::sjmartinez@camacol.org.co::678594f2-f7f6-4208-b6a1-b7cf9485f2df" providerId="AD"/>
  <p188:author id="{125EA46C-DEDF-4FE6-7729-2C9684504E36}" name="Jorge Alberto Torres Vallejo" initials="JT" userId="S::jtorres@camacol.org.co::7a88b552-1338-42e7-b29c-e7e192b520df" providerId="AD"/>
  <p188:author id="{FDC6437F-3615-04C1-D157-998455126970}" name="Juan David Dueñas Garavito" initials="JD" userId="S::jduenas@camacol.org.co::34bf7155-daee-43b5-9089-f8314e571932" providerId="AD"/>
  <p188:author id="{C05B6793-F264-21D6-CD3A-0E9BBA81AE63}" name="Santiago Melo Montero" initials="SM" userId="S::smelo@alcaldiabogota.gov.co::05bce4bd-1efc-40cc-b1b7-7ad82203d124" providerId="AD"/>
  <p188:author id="{969D5FA2-1976-B9E3-61E3-C82C80A6DC3D}" name="Nathaly Castro" initials="NC" userId="S::ncastro@camacol.org.co::c6661946-9789-44f7-bc4b-28e5d8848f7f" providerId="AD"/>
  <p188:author id="{AFD92DEF-7993-44E9-FB17-1609B90DEF8E}" name="Karen Lorena Hernandez Bedoya" initials="KH" userId="S::khernandez@camacol.org.co::6f567a41-9229-426f-ac32-9ccfb4bb4c03" providerId="AD"/>
  <p188:author id="{819E1EF5-C01E-4DC2-BCAB-FE6A7CE7E9EF}" name="Paula Alexandra Peñuela" initials="PP" userId="S::ppenuela@camacol.org.co::3ac7a49f-4470-4c2e-abbb-faefeb6401f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1D57"/>
    <a:srgbClr val="51C9F5"/>
    <a:srgbClr val="0000FE"/>
    <a:srgbClr val="B2B2B2"/>
    <a:srgbClr val="163E64"/>
    <a:srgbClr val="164864"/>
    <a:srgbClr val="03989E"/>
    <a:srgbClr val="FFFF73"/>
    <a:srgbClr val="A6DCB8"/>
    <a:srgbClr val="1F73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Estilo medio 1 - Énfasis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C2FFA5D-87B4-456A-9821-1D502468CF0F}" styleName="Estilo temático 1 - Énfasis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ia Paula Moreno" userId="7f06c5a4-f807-4a12-9115-03c525bf8f95" providerId="ADAL" clId="{420B6025-E4E9-4779-9920-E493F1B0DBC0}"/>
    <pc:docChg chg="undo custSel addSld delSld modSld sldOrd">
      <pc:chgData name="Maria Paula Moreno" userId="7f06c5a4-f807-4a12-9115-03c525bf8f95" providerId="ADAL" clId="{420B6025-E4E9-4779-9920-E493F1B0DBC0}" dt="2025-04-24T19:58:34.534" v="765" actId="1076"/>
      <pc:docMkLst>
        <pc:docMk/>
      </pc:docMkLst>
      <pc:sldChg chg="del">
        <pc:chgData name="Maria Paula Moreno" userId="7f06c5a4-f807-4a12-9115-03c525bf8f95" providerId="ADAL" clId="{420B6025-E4E9-4779-9920-E493F1B0DBC0}" dt="2025-04-24T17:17:54.241" v="2" actId="47"/>
        <pc:sldMkLst>
          <pc:docMk/>
          <pc:sldMk cId="831803145" sldId="15193"/>
        </pc:sldMkLst>
      </pc:sldChg>
      <pc:sldChg chg="modSp mod">
        <pc:chgData name="Maria Paula Moreno" userId="7f06c5a4-f807-4a12-9115-03c525bf8f95" providerId="ADAL" clId="{420B6025-E4E9-4779-9920-E493F1B0DBC0}" dt="2025-04-24T19:54:59.350" v="682"/>
        <pc:sldMkLst>
          <pc:docMk/>
          <pc:sldMk cId="664689931" sldId="15195"/>
        </pc:sldMkLst>
        <pc:spChg chg="mod">
          <ac:chgData name="Maria Paula Moreno" userId="7f06c5a4-f807-4a12-9115-03c525bf8f95" providerId="ADAL" clId="{420B6025-E4E9-4779-9920-E493F1B0DBC0}" dt="2025-04-24T19:41:23.282" v="564" actId="20577"/>
          <ac:spMkLst>
            <pc:docMk/>
            <pc:sldMk cId="664689931" sldId="15195"/>
            <ac:spMk id="8" creationId="{0A253ED2-8BDA-29F1-B2B3-28A833019F4A}"/>
          </ac:spMkLst>
        </pc:spChg>
        <pc:spChg chg="mod">
          <ac:chgData name="Maria Paula Moreno" userId="7f06c5a4-f807-4a12-9115-03c525bf8f95" providerId="ADAL" clId="{420B6025-E4E9-4779-9920-E493F1B0DBC0}" dt="2025-04-24T19:53:31.819" v="637" actId="20577"/>
          <ac:spMkLst>
            <pc:docMk/>
            <pc:sldMk cId="664689931" sldId="15195"/>
            <ac:spMk id="54" creationId="{23DAD816-DC0C-134B-D50A-51701D1033C1}"/>
          </ac:spMkLst>
        </pc:spChg>
        <pc:graphicFrameChg chg="mod">
          <ac:chgData name="Maria Paula Moreno" userId="7f06c5a4-f807-4a12-9115-03c525bf8f95" providerId="ADAL" clId="{420B6025-E4E9-4779-9920-E493F1B0DBC0}" dt="2025-04-24T19:54:59.350" v="682"/>
          <ac:graphicFrameMkLst>
            <pc:docMk/>
            <pc:sldMk cId="664689931" sldId="15195"/>
            <ac:graphicFrameMk id="2" creationId="{AE042C4C-18D8-4AFF-A954-74DB30BD38A0}"/>
          </ac:graphicFrameMkLst>
        </pc:graphicFrameChg>
      </pc:sldChg>
      <pc:sldChg chg="modSp mod">
        <pc:chgData name="Maria Paula Moreno" userId="7f06c5a4-f807-4a12-9115-03c525bf8f95" providerId="ADAL" clId="{420B6025-E4E9-4779-9920-E493F1B0DBC0}" dt="2025-04-24T19:54:30.680" v="678" actId="1076"/>
        <pc:sldMkLst>
          <pc:docMk/>
          <pc:sldMk cId="2728052154" sldId="15196"/>
        </pc:sldMkLst>
        <pc:spChg chg="mod">
          <ac:chgData name="Maria Paula Moreno" userId="7f06c5a4-f807-4a12-9115-03c525bf8f95" providerId="ADAL" clId="{420B6025-E4E9-4779-9920-E493F1B0DBC0}" dt="2025-04-24T19:41:35.810" v="586" actId="20577"/>
          <ac:spMkLst>
            <pc:docMk/>
            <pc:sldMk cId="2728052154" sldId="15196"/>
            <ac:spMk id="8" creationId="{8DBC19EA-619C-DE80-2973-364D44B6189F}"/>
          </ac:spMkLst>
        </pc:spChg>
        <pc:spChg chg="mod">
          <ac:chgData name="Maria Paula Moreno" userId="7f06c5a4-f807-4a12-9115-03c525bf8f95" providerId="ADAL" clId="{420B6025-E4E9-4779-9920-E493F1B0DBC0}" dt="2025-04-24T19:54:30.680" v="678" actId="1076"/>
          <ac:spMkLst>
            <pc:docMk/>
            <pc:sldMk cId="2728052154" sldId="15196"/>
            <ac:spMk id="54" creationId="{D50AE50F-1DC7-539D-CB53-0C09C088A9F9}"/>
          </ac:spMkLst>
        </pc:spChg>
        <pc:graphicFrameChg chg="mod">
          <ac:chgData name="Maria Paula Moreno" userId="7f06c5a4-f807-4a12-9115-03c525bf8f95" providerId="ADAL" clId="{420B6025-E4E9-4779-9920-E493F1B0DBC0}" dt="2025-04-24T19:52:49.132" v="607"/>
          <ac:graphicFrameMkLst>
            <pc:docMk/>
            <pc:sldMk cId="2728052154" sldId="15196"/>
            <ac:graphicFrameMk id="2" creationId="{BCEBC606-9E83-06CB-8B57-4FBAD15EEEB9}"/>
          </ac:graphicFrameMkLst>
        </pc:graphicFrameChg>
      </pc:sldChg>
      <pc:sldChg chg="modSp add mod ord">
        <pc:chgData name="Maria Paula Moreno" userId="7f06c5a4-f807-4a12-9115-03c525bf8f95" providerId="ADAL" clId="{420B6025-E4E9-4779-9920-E493F1B0DBC0}" dt="2025-04-24T19:58:34.534" v="765" actId="1076"/>
        <pc:sldMkLst>
          <pc:docMk/>
          <pc:sldMk cId="362559009" sldId="15197"/>
        </pc:sldMkLst>
        <pc:spChg chg="mod">
          <ac:chgData name="Maria Paula Moreno" userId="7f06c5a4-f807-4a12-9115-03c525bf8f95" providerId="ADAL" clId="{420B6025-E4E9-4779-9920-E493F1B0DBC0}" dt="2025-04-24T17:35:20.356" v="251" actId="1076"/>
          <ac:spMkLst>
            <pc:docMk/>
            <pc:sldMk cId="362559009" sldId="15197"/>
            <ac:spMk id="5" creationId="{5C87F6DA-B1E2-2409-2F23-11205F86B58B}"/>
          </ac:spMkLst>
        </pc:spChg>
        <pc:spChg chg="mod">
          <ac:chgData name="Maria Paula Moreno" userId="7f06c5a4-f807-4a12-9115-03c525bf8f95" providerId="ADAL" clId="{420B6025-E4E9-4779-9920-E493F1B0DBC0}" dt="2025-04-24T19:55:29.235" v="701" actId="20577"/>
          <ac:spMkLst>
            <pc:docMk/>
            <pc:sldMk cId="362559009" sldId="15197"/>
            <ac:spMk id="8" creationId="{B50F89E9-F988-6385-25B2-6594377182BC}"/>
          </ac:spMkLst>
        </pc:spChg>
        <pc:spChg chg="mod">
          <ac:chgData name="Maria Paula Moreno" userId="7f06c5a4-f807-4a12-9115-03c525bf8f95" providerId="ADAL" clId="{420B6025-E4E9-4779-9920-E493F1B0DBC0}" dt="2025-04-24T17:36:07.594" v="311" actId="20577"/>
          <ac:spMkLst>
            <pc:docMk/>
            <pc:sldMk cId="362559009" sldId="15197"/>
            <ac:spMk id="12" creationId="{6E850BDB-B8AC-7D21-BAF1-FB63973063EE}"/>
          </ac:spMkLst>
        </pc:spChg>
        <pc:spChg chg="mod">
          <ac:chgData name="Maria Paula Moreno" userId="7f06c5a4-f807-4a12-9115-03c525bf8f95" providerId="ADAL" clId="{420B6025-E4E9-4779-9920-E493F1B0DBC0}" dt="2025-04-24T19:58:34.534" v="765" actId="1076"/>
          <ac:spMkLst>
            <pc:docMk/>
            <pc:sldMk cId="362559009" sldId="15197"/>
            <ac:spMk id="54" creationId="{44BE5602-E0D8-E387-AAC4-89A60AA28505}"/>
          </ac:spMkLst>
        </pc:spChg>
        <pc:graphicFrameChg chg="mod">
          <ac:chgData name="Maria Paula Moreno" userId="7f06c5a4-f807-4a12-9115-03c525bf8f95" providerId="ADAL" clId="{420B6025-E4E9-4779-9920-E493F1B0DBC0}" dt="2025-04-24T19:57:33.203" v="711"/>
          <ac:graphicFrameMkLst>
            <pc:docMk/>
            <pc:sldMk cId="362559009" sldId="15197"/>
            <ac:graphicFrameMk id="6" creationId="{94E8A404-879C-D0A8-A718-16FE542513FD}"/>
          </ac:graphicFrameMkLst>
        </pc:graphicFrameChg>
      </pc:sldChg>
      <pc:sldChg chg="addSp delSp modSp add mod ord">
        <pc:chgData name="Maria Paula Moreno" userId="7f06c5a4-f807-4a12-9115-03c525bf8f95" providerId="ADAL" clId="{420B6025-E4E9-4779-9920-E493F1B0DBC0}" dt="2025-04-24T17:39:51.661" v="390" actId="1076"/>
        <pc:sldMkLst>
          <pc:docMk/>
          <pc:sldMk cId="806818116" sldId="15199"/>
        </pc:sldMkLst>
        <pc:spChg chg="add mod ord">
          <ac:chgData name="Maria Paula Moreno" userId="7f06c5a4-f807-4a12-9115-03c525bf8f95" providerId="ADAL" clId="{420B6025-E4E9-4779-9920-E493F1B0DBC0}" dt="2025-04-24T17:38:28.322" v="327" actId="1076"/>
          <ac:spMkLst>
            <pc:docMk/>
            <pc:sldMk cId="806818116" sldId="15199"/>
            <ac:spMk id="7" creationId="{46798319-A2DE-9664-7551-0D3EA625F6EF}"/>
          </ac:spMkLst>
        </pc:spChg>
        <pc:spChg chg="mod">
          <ac:chgData name="Maria Paula Moreno" userId="7f06c5a4-f807-4a12-9115-03c525bf8f95" providerId="ADAL" clId="{420B6025-E4E9-4779-9920-E493F1B0DBC0}" dt="2025-04-24T17:39:51.661" v="390" actId="1076"/>
          <ac:spMkLst>
            <pc:docMk/>
            <pc:sldMk cId="806818116" sldId="15199"/>
            <ac:spMk id="54" creationId="{ADC7248C-CF23-377E-9194-D499E826B6C9}"/>
          </ac:spMkLst>
        </pc:spChg>
        <pc:graphicFrameChg chg="add mod">
          <ac:chgData name="Maria Paula Moreno" userId="7f06c5a4-f807-4a12-9115-03c525bf8f95" providerId="ADAL" clId="{420B6025-E4E9-4779-9920-E493F1B0DBC0}" dt="2025-04-24T17:37:58.440" v="323" actId="1076"/>
          <ac:graphicFrameMkLst>
            <pc:docMk/>
            <pc:sldMk cId="806818116" sldId="15199"/>
            <ac:graphicFrameMk id="4" creationId="{FA21317F-B46F-4278-9765-F07B2E610A75}"/>
          </ac:graphicFrameMkLst>
        </pc:graphicFrameChg>
      </pc:sldChg>
      <pc:sldChg chg="addSp delSp modSp add mod">
        <pc:chgData name="Maria Paula Moreno" userId="7f06c5a4-f807-4a12-9115-03c525bf8f95" providerId="ADAL" clId="{420B6025-E4E9-4779-9920-E493F1B0DBC0}" dt="2025-04-24T17:57:13.612" v="505" actId="27918"/>
        <pc:sldMkLst>
          <pc:docMk/>
          <pc:sldMk cId="2205200391" sldId="15202"/>
        </pc:sldMkLst>
        <pc:spChg chg="mod">
          <ac:chgData name="Maria Paula Moreno" userId="7f06c5a4-f807-4a12-9115-03c525bf8f95" providerId="ADAL" clId="{420B6025-E4E9-4779-9920-E493F1B0DBC0}" dt="2025-04-24T17:47:20.426" v="447" actId="20577"/>
          <ac:spMkLst>
            <pc:docMk/>
            <pc:sldMk cId="2205200391" sldId="15202"/>
            <ac:spMk id="8" creationId="{9E4EE888-9C4C-9203-F151-6C190637FCA3}"/>
          </ac:spMkLst>
        </pc:spChg>
        <pc:spChg chg="mod">
          <ac:chgData name="Maria Paula Moreno" userId="7f06c5a4-f807-4a12-9115-03c525bf8f95" providerId="ADAL" clId="{420B6025-E4E9-4779-9920-E493F1B0DBC0}" dt="2025-04-24T17:48:16.975" v="472" actId="20577"/>
          <ac:spMkLst>
            <pc:docMk/>
            <pc:sldMk cId="2205200391" sldId="15202"/>
            <ac:spMk id="54" creationId="{4393002C-44B0-5D35-0A86-E63117732639}"/>
          </ac:spMkLst>
        </pc:spChg>
        <pc:graphicFrameChg chg="add mod">
          <ac:chgData name="Maria Paula Moreno" userId="7f06c5a4-f807-4a12-9115-03c525bf8f95" providerId="ADAL" clId="{420B6025-E4E9-4779-9920-E493F1B0DBC0}" dt="2025-04-24T17:54:45.331" v="498" actId="1076"/>
          <ac:graphicFrameMkLst>
            <pc:docMk/>
            <pc:sldMk cId="2205200391" sldId="15202"/>
            <ac:graphicFrameMk id="4" creationId="{5CA1C451-178C-4B73-A926-5902B1FE36A1}"/>
          </ac:graphicFrameMkLst>
        </pc:graphicFrameChg>
      </pc:sldChg>
    </pc:docChg>
  </pc:docChgLst>
  <pc:docChgLst>
    <pc:chgData name="Diego Fernando Montañez Herrera" userId="82695c21-d357-4296-ab2b-5452df8abee9" providerId="ADAL" clId="{810DD1CF-B785-470A-B3E0-3B8965C35AAA}"/>
    <pc:docChg chg="custSel addSld delSld modSld">
      <pc:chgData name="Diego Fernando Montañez Herrera" userId="82695c21-d357-4296-ab2b-5452df8abee9" providerId="ADAL" clId="{810DD1CF-B785-470A-B3E0-3B8965C35AAA}" dt="2025-04-24T17:52:08.227" v="716" actId="255"/>
      <pc:docMkLst>
        <pc:docMk/>
      </pc:docMkLst>
      <pc:sldChg chg="modSp mod">
        <pc:chgData name="Diego Fernando Montañez Herrera" userId="82695c21-d357-4296-ab2b-5452df8abee9" providerId="ADAL" clId="{810DD1CF-B785-470A-B3E0-3B8965C35AAA}" dt="2025-04-24T17:34:43.323" v="551" actId="20577"/>
        <pc:sldMkLst>
          <pc:docMk/>
          <pc:sldMk cId="2290820411" sldId="15192"/>
        </pc:sldMkLst>
        <pc:spChg chg="mod">
          <ac:chgData name="Diego Fernando Montañez Herrera" userId="82695c21-d357-4296-ab2b-5452df8abee9" providerId="ADAL" clId="{810DD1CF-B785-470A-B3E0-3B8965C35AAA}" dt="2025-04-24T17:16:24.499" v="221" actId="6549"/>
          <ac:spMkLst>
            <pc:docMk/>
            <pc:sldMk cId="2290820411" sldId="15192"/>
            <ac:spMk id="8" creationId="{A8CFE3F8-7D93-9EE9-FE47-2EA1EDE00D42}"/>
          </ac:spMkLst>
        </pc:spChg>
        <pc:graphicFrameChg chg="mod">
          <ac:chgData name="Diego Fernando Montañez Herrera" userId="82695c21-d357-4296-ab2b-5452df8abee9" providerId="ADAL" clId="{810DD1CF-B785-470A-B3E0-3B8965C35AAA}" dt="2025-04-24T17:34:43.323" v="551" actId="20577"/>
          <ac:graphicFrameMkLst>
            <pc:docMk/>
            <pc:sldMk cId="2290820411" sldId="15192"/>
            <ac:graphicFrameMk id="6" creationId="{36342539-A003-20B0-8C6E-39DD67868750}"/>
          </ac:graphicFrameMkLst>
        </pc:graphicFrameChg>
      </pc:sldChg>
      <pc:sldChg chg="delSp modSp mod">
        <pc:chgData name="Diego Fernando Montañez Herrera" userId="82695c21-d357-4296-ab2b-5452df8abee9" providerId="ADAL" clId="{810DD1CF-B785-470A-B3E0-3B8965C35AAA}" dt="2025-04-24T17:17:15.649" v="247" actId="1076"/>
        <pc:sldMkLst>
          <pc:docMk/>
          <pc:sldMk cId="831803145" sldId="15193"/>
        </pc:sldMkLst>
      </pc:sldChg>
      <pc:sldChg chg="modSp mod">
        <pc:chgData name="Diego Fernando Montañez Herrera" userId="82695c21-d357-4296-ab2b-5452df8abee9" providerId="ADAL" clId="{810DD1CF-B785-470A-B3E0-3B8965C35AAA}" dt="2025-04-24T17:35:26.924" v="602" actId="20577"/>
        <pc:sldMkLst>
          <pc:docMk/>
          <pc:sldMk cId="4115507068" sldId="15194"/>
        </pc:sldMkLst>
        <pc:spChg chg="mod">
          <ac:chgData name="Diego Fernando Montañez Herrera" userId="82695c21-d357-4296-ab2b-5452df8abee9" providerId="ADAL" clId="{810DD1CF-B785-470A-B3E0-3B8965C35AAA}" dt="2025-04-24T17:16:15.672" v="214" actId="20577"/>
          <ac:spMkLst>
            <pc:docMk/>
            <pc:sldMk cId="4115507068" sldId="15194"/>
            <ac:spMk id="5" creationId="{42389847-3E47-544E-8552-A6C7CEFFD93E}"/>
          </ac:spMkLst>
        </pc:spChg>
        <pc:spChg chg="mod">
          <ac:chgData name="Diego Fernando Montañez Herrera" userId="82695c21-d357-4296-ab2b-5452df8abee9" providerId="ADAL" clId="{810DD1CF-B785-470A-B3E0-3B8965C35AAA}" dt="2025-04-24T17:16:29.674" v="228" actId="6549"/>
          <ac:spMkLst>
            <pc:docMk/>
            <pc:sldMk cId="4115507068" sldId="15194"/>
            <ac:spMk id="8" creationId="{F56291B4-219F-0FAC-BCF5-7D9E1026A20C}"/>
          </ac:spMkLst>
        </pc:spChg>
        <pc:spChg chg="mod">
          <ac:chgData name="Diego Fernando Montañez Herrera" userId="82695c21-d357-4296-ab2b-5452df8abee9" providerId="ADAL" clId="{810DD1CF-B785-470A-B3E0-3B8965C35AAA}" dt="2025-04-24T17:15:13.167" v="170"/>
          <ac:spMkLst>
            <pc:docMk/>
            <pc:sldMk cId="4115507068" sldId="15194"/>
            <ac:spMk id="54" creationId="{A1D4A52B-71D0-1713-B54F-26310E728617}"/>
          </ac:spMkLst>
        </pc:spChg>
        <pc:graphicFrameChg chg="mod">
          <ac:chgData name="Diego Fernando Montañez Herrera" userId="82695c21-d357-4296-ab2b-5452df8abee9" providerId="ADAL" clId="{810DD1CF-B785-470A-B3E0-3B8965C35AAA}" dt="2025-04-24T17:35:26.924" v="602" actId="20577"/>
          <ac:graphicFrameMkLst>
            <pc:docMk/>
            <pc:sldMk cId="4115507068" sldId="15194"/>
            <ac:graphicFrameMk id="6" creationId="{367CE4FA-E33A-265B-A68A-747BE6F06295}"/>
          </ac:graphicFrameMkLst>
        </pc:graphicFrameChg>
      </pc:sldChg>
      <pc:sldChg chg="addSp delSp modSp add mod">
        <pc:chgData name="Diego Fernando Montañez Herrera" userId="82695c21-d357-4296-ab2b-5452df8abee9" providerId="ADAL" clId="{810DD1CF-B785-470A-B3E0-3B8965C35AAA}" dt="2025-04-24T17:27:54.991" v="398" actId="14100"/>
        <pc:sldMkLst>
          <pc:docMk/>
          <pc:sldMk cId="664689931" sldId="15195"/>
        </pc:sldMkLst>
        <pc:spChg chg="mod">
          <ac:chgData name="Diego Fernando Montañez Herrera" userId="82695c21-d357-4296-ab2b-5452df8abee9" providerId="ADAL" clId="{810DD1CF-B785-470A-B3E0-3B8965C35AAA}" dt="2025-04-24T17:13:09.287" v="34" actId="20577"/>
          <ac:spMkLst>
            <pc:docMk/>
            <pc:sldMk cId="664689931" sldId="15195"/>
            <ac:spMk id="8" creationId="{0A253ED2-8BDA-29F1-B2B3-28A833019F4A}"/>
          </ac:spMkLst>
        </pc:spChg>
        <pc:spChg chg="mod">
          <ac:chgData name="Diego Fernando Montañez Herrera" userId="82695c21-d357-4296-ab2b-5452df8abee9" providerId="ADAL" clId="{810DD1CF-B785-470A-B3E0-3B8965C35AAA}" dt="2025-04-24T17:14:54.731" v="169" actId="20577"/>
          <ac:spMkLst>
            <pc:docMk/>
            <pc:sldMk cId="664689931" sldId="15195"/>
            <ac:spMk id="54" creationId="{23DAD816-DC0C-134B-D50A-51701D1033C1}"/>
          </ac:spMkLst>
        </pc:spChg>
        <pc:graphicFrameChg chg="add mod">
          <ac:chgData name="Diego Fernando Montañez Herrera" userId="82695c21-d357-4296-ab2b-5452df8abee9" providerId="ADAL" clId="{810DD1CF-B785-470A-B3E0-3B8965C35AAA}" dt="2025-04-24T17:27:54.991" v="398" actId="14100"/>
          <ac:graphicFrameMkLst>
            <pc:docMk/>
            <pc:sldMk cId="664689931" sldId="15195"/>
            <ac:graphicFrameMk id="2" creationId="{AE042C4C-18D8-4AFF-A954-74DB30BD38A0}"/>
          </ac:graphicFrameMkLst>
        </pc:graphicFrameChg>
      </pc:sldChg>
      <pc:sldChg chg="modSp add mod">
        <pc:chgData name="Diego Fernando Montañez Herrera" userId="82695c21-d357-4296-ab2b-5452df8abee9" providerId="ADAL" clId="{810DD1CF-B785-470A-B3E0-3B8965C35AAA}" dt="2025-04-24T17:28:12.249" v="400" actId="14100"/>
        <pc:sldMkLst>
          <pc:docMk/>
          <pc:sldMk cId="2728052154" sldId="15196"/>
        </pc:sldMkLst>
        <pc:spChg chg="mod">
          <ac:chgData name="Diego Fernando Montañez Herrera" userId="82695c21-d357-4296-ab2b-5452df8abee9" providerId="ADAL" clId="{810DD1CF-B785-470A-B3E0-3B8965C35AAA}" dt="2025-04-24T17:27:38.899" v="396"/>
          <ac:spMkLst>
            <pc:docMk/>
            <pc:sldMk cId="2728052154" sldId="15196"/>
            <ac:spMk id="5" creationId="{6A279F51-65CA-0EEB-B911-5CD5D535C1E6}"/>
          </ac:spMkLst>
        </pc:spChg>
        <pc:spChg chg="mod">
          <ac:chgData name="Diego Fernando Montañez Herrera" userId="82695c21-d357-4296-ab2b-5452df8abee9" providerId="ADAL" clId="{810DD1CF-B785-470A-B3E0-3B8965C35AAA}" dt="2025-04-24T17:17:45.639" v="259" actId="20577"/>
          <ac:spMkLst>
            <pc:docMk/>
            <pc:sldMk cId="2728052154" sldId="15196"/>
            <ac:spMk id="8" creationId="{8DBC19EA-619C-DE80-2973-364D44B6189F}"/>
          </ac:spMkLst>
        </pc:spChg>
        <pc:spChg chg="mod">
          <ac:chgData name="Diego Fernando Montañez Herrera" userId="82695c21-d357-4296-ab2b-5452df8abee9" providerId="ADAL" clId="{810DD1CF-B785-470A-B3E0-3B8965C35AAA}" dt="2025-04-24T17:24:47.941" v="381" actId="6549"/>
          <ac:spMkLst>
            <pc:docMk/>
            <pc:sldMk cId="2728052154" sldId="15196"/>
            <ac:spMk id="54" creationId="{D50AE50F-1DC7-539D-CB53-0C09C088A9F9}"/>
          </ac:spMkLst>
        </pc:spChg>
        <pc:graphicFrameChg chg="mod">
          <ac:chgData name="Diego Fernando Montañez Herrera" userId="82695c21-d357-4296-ab2b-5452df8abee9" providerId="ADAL" clId="{810DD1CF-B785-470A-B3E0-3B8965C35AAA}" dt="2025-04-24T17:28:12.249" v="400" actId="14100"/>
          <ac:graphicFrameMkLst>
            <pc:docMk/>
            <pc:sldMk cId="2728052154" sldId="15196"/>
            <ac:graphicFrameMk id="2" creationId="{BCEBC606-9E83-06CB-8B57-4FBAD15EEEB9}"/>
          </ac:graphicFrameMkLst>
        </pc:graphicFrameChg>
      </pc:sldChg>
      <pc:sldChg chg="modSp mod">
        <pc:chgData name="Diego Fernando Montañez Herrera" userId="82695c21-d357-4296-ab2b-5452df8abee9" providerId="ADAL" clId="{810DD1CF-B785-470A-B3E0-3B8965C35AAA}" dt="2025-04-24T17:49:10.744" v="713" actId="20577"/>
        <pc:sldMkLst>
          <pc:docMk/>
          <pc:sldMk cId="362559009" sldId="15197"/>
        </pc:sldMkLst>
        <pc:graphicFrameChg chg="mod">
          <ac:chgData name="Diego Fernando Montañez Herrera" userId="82695c21-d357-4296-ab2b-5452df8abee9" providerId="ADAL" clId="{810DD1CF-B785-470A-B3E0-3B8965C35AAA}" dt="2025-04-24T17:49:10.744" v="713" actId="20577"/>
          <ac:graphicFrameMkLst>
            <pc:docMk/>
            <pc:sldMk cId="362559009" sldId="15197"/>
            <ac:graphicFrameMk id="6" creationId="{94E8A404-879C-D0A8-A718-16FE542513FD}"/>
          </ac:graphicFrameMkLst>
        </pc:graphicFrameChg>
      </pc:sldChg>
      <pc:sldChg chg="modSp add del mod">
        <pc:chgData name="Diego Fernando Montañez Herrera" userId="82695c21-d357-4296-ab2b-5452df8abee9" providerId="ADAL" clId="{810DD1CF-B785-470A-B3E0-3B8965C35AAA}" dt="2025-04-24T17:30:10.827" v="441" actId="47"/>
        <pc:sldMkLst>
          <pc:docMk/>
          <pc:sldMk cId="2582961885" sldId="15198"/>
        </pc:sldMkLst>
      </pc:sldChg>
      <pc:sldChg chg="modSp mod">
        <pc:chgData name="Diego Fernando Montañez Herrera" userId="82695c21-d357-4296-ab2b-5452df8abee9" providerId="ADAL" clId="{810DD1CF-B785-470A-B3E0-3B8965C35AAA}" dt="2025-04-24T17:41:50.976" v="675" actId="255"/>
        <pc:sldMkLst>
          <pc:docMk/>
          <pc:sldMk cId="806818116" sldId="15199"/>
        </pc:sldMkLst>
        <pc:graphicFrameChg chg="mod">
          <ac:chgData name="Diego Fernando Montañez Herrera" userId="82695c21-d357-4296-ab2b-5452df8abee9" providerId="ADAL" clId="{810DD1CF-B785-470A-B3E0-3B8965C35AAA}" dt="2025-04-24T17:41:50.976" v="675" actId="255"/>
          <ac:graphicFrameMkLst>
            <pc:docMk/>
            <pc:sldMk cId="806818116" sldId="15199"/>
            <ac:graphicFrameMk id="4" creationId="{FA21317F-B46F-4278-9765-F07B2E610A75}"/>
          </ac:graphicFrameMkLst>
        </pc:graphicFrameChg>
      </pc:sldChg>
      <pc:sldChg chg="modSp add mod">
        <pc:chgData name="Diego Fernando Montañez Herrera" userId="82695c21-d357-4296-ab2b-5452df8abee9" providerId="ADAL" clId="{810DD1CF-B785-470A-B3E0-3B8965C35AAA}" dt="2025-04-24T17:34:17.510" v="529"/>
        <pc:sldMkLst>
          <pc:docMk/>
          <pc:sldMk cId="3081711951" sldId="15200"/>
        </pc:sldMkLst>
        <pc:spChg chg="mod">
          <ac:chgData name="Diego Fernando Montañez Herrera" userId="82695c21-d357-4296-ab2b-5452df8abee9" providerId="ADAL" clId="{810DD1CF-B785-470A-B3E0-3B8965C35AAA}" dt="2025-04-24T17:31:31.992" v="473" actId="20577"/>
          <ac:spMkLst>
            <pc:docMk/>
            <pc:sldMk cId="3081711951" sldId="15200"/>
            <ac:spMk id="8" creationId="{FB81644C-D131-2AE7-E9C4-58CBAD83723D}"/>
          </ac:spMkLst>
        </pc:spChg>
        <pc:spChg chg="mod">
          <ac:chgData name="Diego Fernando Montañez Herrera" userId="82695c21-d357-4296-ab2b-5452df8abee9" providerId="ADAL" clId="{810DD1CF-B785-470A-B3E0-3B8965C35AAA}" dt="2025-04-24T17:31:58.250" v="500" actId="6549"/>
          <ac:spMkLst>
            <pc:docMk/>
            <pc:sldMk cId="3081711951" sldId="15200"/>
            <ac:spMk id="54" creationId="{2BAAE6A8-0BD8-9A18-E943-FC523843123D}"/>
          </ac:spMkLst>
        </pc:spChg>
        <pc:graphicFrameChg chg="mod">
          <ac:chgData name="Diego Fernando Montañez Herrera" userId="82695c21-d357-4296-ab2b-5452df8abee9" providerId="ADAL" clId="{810DD1CF-B785-470A-B3E0-3B8965C35AAA}" dt="2025-04-24T17:34:17.510" v="529"/>
          <ac:graphicFrameMkLst>
            <pc:docMk/>
            <pc:sldMk cId="3081711951" sldId="15200"/>
            <ac:graphicFrameMk id="2" creationId="{91DA0579-35B1-8043-6915-0F34E678FF8E}"/>
          </ac:graphicFrameMkLst>
        </pc:graphicFrameChg>
      </pc:sldChg>
      <pc:sldChg chg="modSp add mod">
        <pc:chgData name="Diego Fernando Montañez Herrera" userId="82695c21-d357-4296-ab2b-5452df8abee9" providerId="ADAL" clId="{810DD1CF-B785-470A-B3E0-3B8965C35AAA}" dt="2025-04-24T17:49:20.349" v="714"/>
        <pc:sldMkLst>
          <pc:docMk/>
          <pc:sldMk cId="2494004391" sldId="15201"/>
        </pc:sldMkLst>
        <pc:spChg chg="mod">
          <ac:chgData name="Diego Fernando Montañez Herrera" userId="82695c21-d357-4296-ab2b-5452df8abee9" providerId="ADAL" clId="{810DD1CF-B785-470A-B3E0-3B8965C35AAA}" dt="2025-04-24T17:37:54.671" v="626"/>
          <ac:spMkLst>
            <pc:docMk/>
            <pc:sldMk cId="2494004391" sldId="15201"/>
            <ac:spMk id="5" creationId="{A2B1BE72-2B06-83B8-2EAA-3842A7F45512}"/>
          </ac:spMkLst>
        </pc:spChg>
        <pc:spChg chg="mod">
          <ac:chgData name="Diego Fernando Montañez Herrera" userId="82695c21-d357-4296-ab2b-5452df8abee9" providerId="ADAL" clId="{810DD1CF-B785-470A-B3E0-3B8965C35AAA}" dt="2025-04-24T17:37:03.260" v="623" actId="20577"/>
          <ac:spMkLst>
            <pc:docMk/>
            <pc:sldMk cId="2494004391" sldId="15201"/>
            <ac:spMk id="54" creationId="{91F2958B-CB50-3423-C26B-CE2A1B21C9A7}"/>
          </ac:spMkLst>
        </pc:spChg>
        <pc:graphicFrameChg chg="mod">
          <ac:chgData name="Diego Fernando Montañez Herrera" userId="82695c21-d357-4296-ab2b-5452df8abee9" providerId="ADAL" clId="{810DD1CF-B785-470A-B3E0-3B8965C35AAA}" dt="2025-04-24T17:49:20.349" v="714"/>
          <ac:graphicFrameMkLst>
            <pc:docMk/>
            <pc:sldMk cId="2494004391" sldId="15201"/>
            <ac:graphicFrameMk id="2" creationId="{D3E03161-6ADC-FA35-BC86-247A341B2042}"/>
          </ac:graphicFrameMkLst>
        </pc:graphicFrameChg>
      </pc:sldChg>
      <pc:sldChg chg="modSp mod">
        <pc:chgData name="Diego Fernando Montañez Herrera" userId="82695c21-d357-4296-ab2b-5452df8abee9" providerId="ADAL" clId="{810DD1CF-B785-470A-B3E0-3B8965C35AAA}" dt="2025-04-24T17:52:08.227" v="716" actId="255"/>
        <pc:sldMkLst>
          <pc:docMk/>
          <pc:sldMk cId="2205200391" sldId="15202"/>
        </pc:sldMkLst>
        <pc:graphicFrameChg chg="mod">
          <ac:chgData name="Diego Fernando Montañez Herrera" userId="82695c21-d357-4296-ab2b-5452df8abee9" providerId="ADAL" clId="{810DD1CF-B785-470A-B3E0-3B8965C35AAA}" dt="2025-04-24T17:52:08.227" v="716" actId="255"/>
          <ac:graphicFrameMkLst>
            <pc:docMk/>
            <pc:sldMk cId="2205200391" sldId="15202"/>
            <ac:graphicFrameMk id="4" creationId="{5CA1C451-178C-4B73-A926-5902B1FE36A1}"/>
          </ac:graphicFrameMkLst>
        </pc:graphicFrameChg>
      </pc:sldChg>
    </pc:docChg>
  </pc:docChgLst>
  <pc:docChgLst>
    <pc:chgData name="Nikolas Buitrago" userId="600a14df-701f-4e65-9aae-8fb58f1f99d7" providerId="ADAL" clId="{58F02D20-680B-4D63-AC02-E83FDAD2BCA3}"/>
    <pc:docChg chg="modSld">
      <pc:chgData name="Nikolas Buitrago" userId="600a14df-701f-4e65-9aae-8fb58f1f99d7" providerId="ADAL" clId="{58F02D20-680B-4D63-AC02-E83FDAD2BCA3}" dt="2025-05-06T13:29:43.349" v="5" actId="27918"/>
      <pc:docMkLst>
        <pc:docMk/>
      </pc:docMkLst>
      <pc:sldChg chg="mod">
        <pc:chgData name="Nikolas Buitrago" userId="600a14df-701f-4e65-9aae-8fb58f1f99d7" providerId="ADAL" clId="{58F02D20-680B-4D63-AC02-E83FDAD2BCA3}" dt="2025-05-06T13:27:46.108" v="1" actId="27918"/>
        <pc:sldMkLst>
          <pc:docMk/>
          <pc:sldMk cId="2290820411" sldId="15192"/>
        </pc:sldMkLst>
      </pc:sldChg>
      <pc:sldChg chg="mod">
        <pc:chgData name="Nikolas Buitrago" userId="600a14df-701f-4e65-9aae-8fb58f1f99d7" providerId="ADAL" clId="{58F02D20-680B-4D63-AC02-E83FDAD2BCA3}" dt="2025-05-06T13:29:43.349" v="5" actId="27918"/>
        <pc:sldMkLst>
          <pc:docMk/>
          <pc:sldMk cId="4115507068" sldId="15194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.xml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4.xml"/><Relationship Id="rId2" Type="http://schemas.microsoft.com/office/2011/relationships/chartColorStyle" Target="colors4.xml"/><Relationship Id="rId1" Type="http://schemas.microsoft.com/office/2011/relationships/chartStyle" Target="style4.xml"/><Relationship Id="rId4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5.xml"/><Relationship Id="rId2" Type="http://schemas.microsoft.com/office/2011/relationships/chartColorStyle" Target="colors5.xml"/><Relationship Id="rId1" Type="http://schemas.microsoft.com/office/2011/relationships/chartStyle" Target="style5.xml"/><Relationship Id="rId4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6.xml"/><Relationship Id="rId2" Type="http://schemas.microsoft.com/office/2011/relationships/chartColorStyle" Target="colors6.xml"/><Relationship Id="rId1" Type="http://schemas.microsoft.com/office/2011/relationships/chartStyle" Target="style6.xml"/><Relationship Id="rId4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7.xml"/><Relationship Id="rId2" Type="http://schemas.microsoft.com/office/2011/relationships/chartColorStyle" Target="colors7.xml"/><Relationship Id="rId1" Type="http://schemas.microsoft.com/office/2011/relationships/chartStyle" Target="style7.xml"/><Relationship Id="rId4" Type="http://schemas.openxmlformats.org/officeDocument/2006/relationships/oleObject" Target="../embeddings/oleObject1.bin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8.xml"/><Relationship Id="rId2" Type="http://schemas.microsoft.com/office/2011/relationships/chartColorStyle" Target="colors8.xml"/><Relationship Id="rId1" Type="http://schemas.microsoft.com/office/2011/relationships/chartStyle" Target="style8.xml"/><Relationship Id="rId4" Type="http://schemas.openxmlformats.org/officeDocument/2006/relationships/package" Target="../embeddings/Microsoft_Excel_Worksheet6.xlsx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9.xml"/><Relationship Id="rId2" Type="http://schemas.microsoft.com/office/2011/relationships/chartColorStyle" Target="colors9.xml"/><Relationship Id="rId1" Type="http://schemas.microsoft.com/office/2011/relationships/chartStyle" Target="style9.xml"/><Relationship Id="rId4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6.8708223972003504E-2"/>
          <c:y val="0.14814814814814814"/>
          <c:w val="0.90073622047244095"/>
          <c:h val="0.76374999999999993"/>
        </c:manualLayout>
      </c:layout>
      <c:lineChart>
        <c:grouping val="standard"/>
        <c:varyColors val="0"/>
        <c:ser>
          <c:idx val="0"/>
          <c:order val="0"/>
          <c:tx>
            <c:strRef>
              <c:f>Hoja3!$A$2</c:f>
              <c:strCache>
                <c:ptCount val="1"/>
                <c:pt idx="0">
                  <c:v>Total nacional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rgbClr val="001D57"/>
                    </a:solidFill>
                    <a:latin typeface="Dosis" pitchFamily="2" charset="0"/>
                    <a:ea typeface="+mn-ea"/>
                    <a:cs typeface="+mn-cs"/>
                  </a:defRPr>
                </a:pPr>
                <a:endParaRPr lang="es-CO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Hoja3!$B$1:$G$1</c:f>
              <c:numCache>
                <c:formatCode>General</c:formatCode>
                <c:ptCount val="6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</c:numCache>
            </c:numRef>
          </c:cat>
          <c:val>
            <c:numRef>
              <c:f>Hoja3!$B$2:$G$2</c:f>
              <c:numCache>
                <c:formatCode>General</c:formatCode>
                <c:ptCount val="6"/>
                <c:pt idx="0">
                  <c:v>32.799999999999997</c:v>
                </c:pt>
                <c:pt idx="1">
                  <c:v>31.4</c:v>
                </c:pt>
                <c:pt idx="2">
                  <c:v>31</c:v>
                </c:pt>
                <c:pt idx="3">
                  <c:v>30.4</c:v>
                </c:pt>
                <c:pt idx="4">
                  <c:v>28.9</c:v>
                </c:pt>
                <c:pt idx="5">
                  <c:v>26.8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3AC8-414B-8576-88B33D33D1E7}"/>
            </c:ext>
          </c:extLst>
        </c:ser>
        <c:ser>
          <c:idx val="1"/>
          <c:order val="1"/>
          <c:tx>
            <c:strRef>
              <c:f>Hoja3!$A$3</c:f>
              <c:strCache>
                <c:ptCount val="1"/>
                <c:pt idx="0">
                  <c:v>Cabecera</c:v>
                </c:pt>
              </c:strCache>
            </c:strRef>
          </c:tx>
          <c:spPr>
            <a:ln w="28575" cap="rnd">
              <a:solidFill>
                <a:srgbClr val="00B0F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rgbClr val="00B0F0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rgbClr val="00B0F0"/>
                    </a:solidFill>
                    <a:latin typeface="Dosis" pitchFamily="2" charset="0"/>
                    <a:ea typeface="+mn-ea"/>
                    <a:cs typeface="+mn-cs"/>
                  </a:defRPr>
                </a:pPr>
                <a:endParaRPr lang="es-CO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Hoja3!$B$1:$G$1</c:f>
              <c:numCache>
                <c:formatCode>General</c:formatCode>
                <c:ptCount val="6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</c:numCache>
            </c:numRef>
          </c:cat>
          <c:val>
            <c:numRef>
              <c:f>Hoja3!$B$3:$G$3</c:f>
              <c:numCache>
                <c:formatCode>General</c:formatCode>
                <c:ptCount val="6"/>
                <c:pt idx="0">
                  <c:v>21.6</c:v>
                </c:pt>
                <c:pt idx="1">
                  <c:v>21.6</c:v>
                </c:pt>
                <c:pt idx="2">
                  <c:v>20.399999999999999</c:v>
                </c:pt>
                <c:pt idx="3">
                  <c:v>20.5</c:v>
                </c:pt>
                <c:pt idx="4">
                  <c:v>19.600000000000001</c:v>
                </c:pt>
                <c:pt idx="5">
                  <c:v>17.3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3AC8-414B-8576-88B33D33D1E7}"/>
            </c:ext>
          </c:extLst>
        </c:ser>
        <c:ser>
          <c:idx val="2"/>
          <c:order val="2"/>
          <c:tx>
            <c:strRef>
              <c:f>Hoja3!$A$4</c:f>
              <c:strCache>
                <c:ptCount val="1"/>
                <c:pt idx="0">
                  <c:v>Centros poblados y rural disperso</c:v>
                </c:pt>
              </c:strCache>
            </c:strRef>
          </c:tx>
          <c:spPr>
            <a:ln w="28575" cap="rnd">
              <a:solidFill>
                <a:srgbClr val="00B05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rgbClr val="00B050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rgbClr val="00B050"/>
                    </a:solidFill>
                    <a:latin typeface="Dosis" pitchFamily="2" charset="0"/>
                    <a:ea typeface="+mn-ea"/>
                    <a:cs typeface="+mn-cs"/>
                  </a:defRPr>
                </a:pPr>
                <a:endParaRPr lang="es-CO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Hoja3!$B$1:$G$1</c:f>
              <c:numCache>
                <c:formatCode>General</c:formatCode>
                <c:ptCount val="6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</c:numCache>
            </c:numRef>
          </c:cat>
          <c:val>
            <c:numRef>
              <c:f>Hoja3!$B$4:$G$4</c:f>
              <c:numCache>
                <c:formatCode>General</c:formatCode>
                <c:ptCount val="6"/>
                <c:pt idx="0">
                  <c:v>70.2</c:v>
                </c:pt>
                <c:pt idx="1">
                  <c:v>64.5</c:v>
                </c:pt>
                <c:pt idx="2">
                  <c:v>68.2</c:v>
                </c:pt>
                <c:pt idx="3">
                  <c:v>65.5</c:v>
                </c:pt>
                <c:pt idx="4">
                  <c:v>62.1</c:v>
                </c:pt>
                <c:pt idx="5">
                  <c:v>61.2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3AC8-414B-8576-88B33D33D1E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67038032"/>
        <c:axId val="867039472"/>
      </c:lineChart>
      <c:catAx>
        <c:axId val="86703803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ysClr val="windowText" lastClr="000000"/>
                </a:solidFill>
                <a:latin typeface="Dosis" pitchFamily="2" charset="0"/>
                <a:ea typeface="+mn-ea"/>
                <a:cs typeface="+mn-cs"/>
              </a:defRPr>
            </a:pPr>
            <a:endParaRPr lang="es-CO"/>
          </a:p>
        </c:txPr>
        <c:crossAx val="867039472"/>
        <c:crosses val="autoZero"/>
        <c:auto val="1"/>
        <c:lblAlgn val="ctr"/>
        <c:lblOffset val="100"/>
        <c:noMultiLvlLbl val="0"/>
      </c:catAx>
      <c:valAx>
        <c:axId val="8670394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ysClr val="windowText" lastClr="000000"/>
                    </a:solidFill>
                    <a:latin typeface="Dosis" pitchFamily="2" charset="0"/>
                    <a:ea typeface="+mn-ea"/>
                    <a:cs typeface="+mn-cs"/>
                  </a:defRPr>
                </a:pPr>
                <a:r>
                  <a:rPr lang="es-CO"/>
                  <a:t>Porcentaje de hogares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200" b="0" i="0" u="none" strike="noStrike" kern="1200" baseline="0">
                  <a:solidFill>
                    <a:sysClr val="windowText" lastClr="000000"/>
                  </a:solidFill>
                  <a:latin typeface="Dosis" pitchFamily="2" charset="0"/>
                  <a:ea typeface="+mn-ea"/>
                  <a:cs typeface="+mn-cs"/>
                </a:defRPr>
              </a:pPr>
              <a:endParaRPr lang="es-CO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ysClr val="windowText" lastClr="000000"/>
                </a:solidFill>
                <a:latin typeface="Dosis" pitchFamily="2" charset="0"/>
                <a:ea typeface="+mn-ea"/>
                <a:cs typeface="+mn-cs"/>
              </a:defRPr>
            </a:pPr>
            <a:endParaRPr lang="es-CO"/>
          </a:p>
        </c:txPr>
        <c:crossAx val="86703803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5.9589676290463689E-2"/>
          <c:y val="8.0730533683288971E-3"/>
          <c:w val="0.88082042869641286"/>
          <c:h val="7.988990959463400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ysClr val="windowText" lastClr="000000"/>
              </a:solidFill>
              <a:latin typeface="Dosis" pitchFamily="2" charset="0"/>
              <a:ea typeface="+mn-ea"/>
              <a:cs typeface="+mn-cs"/>
            </a:defRPr>
          </a:pPr>
          <a:endParaRPr lang="es-CO"/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sz="1200">
          <a:solidFill>
            <a:sysClr val="windowText" lastClr="000000"/>
          </a:solidFill>
          <a:latin typeface="Dosis" pitchFamily="2" charset="0"/>
        </a:defRPr>
      </a:pPr>
      <a:endParaRPr lang="es-CO"/>
    </a:p>
  </c:txPr>
  <c:externalData r:id="rId4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9.3774401247418357E-2"/>
          <c:y val="0.14814814814814814"/>
          <c:w val="0.90617244627939686"/>
          <c:h val="0.76374999999999993"/>
        </c:manualLayout>
      </c:layout>
      <c:lineChart>
        <c:grouping val="standard"/>
        <c:varyColors val="0"/>
        <c:ser>
          <c:idx val="0"/>
          <c:order val="0"/>
          <c:tx>
            <c:strRef>
              <c:f>'Var anual'!$A$2</c:f>
              <c:strCache>
                <c:ptCount val="1"/>
                <c:pt idx="0">
                  <c:v>Total nacional</c:v>
                </c:pt>
              </c:strCache>
            </c:strRef>
          </c:tx>
          <c:spPr>
            <a:ln w="28575" cap="rnd">
              <a:solidFill>
                <a:srgbClr val="00206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rgbClr val="002060"/>
                </a:solidFill>
              </a:ln>
              <a:effectLst/>
            </c:spPr>
          </c:marker>
          <c:dLbls>
            <c:dLbl>
              <c:idx val="3"/>
              <c:layout>
                <c:manualLayout>
                  <c:x val="-1.953248358732353E-2"/>
                  <c:y val="3.6148058684798583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03C9-4B45-86DE-71FFE47BB90C}"/>
                </c:ext>
              </c:extLst>
            </c:dLbl>
            <c:dLbl>
              <c:idx val="4"/>
              <c:layout>
                <c:manualLayout>
                  <c:x val="5.8430895830459471E-4"/>
                  <c:y val="-1.91729994720083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03C9-4B45-86DE-71FFE47BB90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rgbClr val="002060"/>
                    </a:solidFill>
                    <a:latin typeface="Dosis" pitchFamily="2" charset="0"/>
                    <a:ea typeface="+mn-ea"/>
                    <a:cs typeface="+mn-cs"/>
                  </a:defRPr>
                </a:pPr>
                <a:endParaRPr lang="es-CO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'Var anual'!$C$1:$G$1</c:f>
              <c:numCache>
                <c:formatCode>General</c:formatCod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numCache>
            </c:numRef>
          </c:cat>
          <c:val>
            <c:numRef>
              <c:f>'Var anual'!$C$2:$G$2</c:f>
              <c:numCache>
                <c:formatCode>#,##0.0</c:formatCode>
                <c:ptCount val="5"/>
                <c:pt idx="0">
                  <c:v>-1.3943995999999999</c:v>
                </c:pt>
                <c:pt idx="1">
                  <c:v>-0.4082765999999971</c:v>
                </c:pt>
                <c:pt idx="2">
                  <c:v>-0.58922260000000293</c:v>
                </c:pt>
                <c:pt idx="3">
                  <c:v>-1.5349702594999997</c:v>
                </c:pt>
                <c:pt idx="4">
                  <c:v>-2.022465583999999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8019-4077-BEF1-92F445470E4F}"/>
            </c:ext>
          </c:extLst>
        </c:ser>
        <c:ser>
          <c:idx val="1"/>
          <c:order val="1"/>
          <c:tx>
            <c:strRef>
              <c:f>'Var anual'!$A$3</c:f>
              <c:strCache>
                <c:ptCount val="1"/>
                <c:pt idx="0">
                  <c:v>Cabecera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dLbls>
            <c:dLbl>
              <c:idx val="4"/>
              <c:layout>
                <c:manualLayout>
                  <c:x val="-3.066870347192194E-4"/>
                  <c:y val="3.6148058684798479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03C9-4B45-86DE-71FFE47BB90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rgbClr val="00B0F0"/>
                    </a:solidFill>
                    <a:latin typeface="Dosis" pitchFamily="2" charset="0"/>
                    <a:ea typeface="+mn-ea"/>
                    <a:cs typeface="+mn-cs"/>
                  </a:defRPr>
                </a:pPr>
                <a:endParaRPr lang="es-CO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'Var anual'!$C$1:$G$1</c:f>
              <c:numCache>
                <c:formatCode>General</c:formatCod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numCache>
            </c:numRef>
          </c:cat>
          <c:val>
            <c:numRef>
              <c:f>'Var anual'!$C$3:$G$3</c:f>
              <c:numCache>
                <c:formatCode>#,##0.0</c:formatCode>
                <c:ptCount val="5"/>
                <c:pt idx="0">
                  <c:v>4.2919999999995184E-3</c:v>
                </c:pt>
                <c:pt idx="1">
                  <c:v>-1.219802399999999</c:v>
                </c:pt>
                <c:pt idx="2">
                  <c:v>0.12024879999999882</c:v>
                </c:pt>
                <c:pt idx="3">
                  <c:v>-0.93022523319999806</c:v>
                </c:pt>
                <c:pt idx="4">
                  <c:v>-2.2813963896000011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8019-4077-BEF1-92F445470E4F}"/>
            </c:ext>
          </c:extLst>
        </c:ser>
        <c:ser>
          <c:idx val="2"/>
          <c:order val="2"/>
          <c:tx>
            <c:strRef>
              <c:f>'Var anual'!$A$4</c:f>
              <c:strCache>
                <c:ptCount val="1"/>
                <c:pt idx="0">
                  <c:v>Centros poblados y rural disperso</c:v>
                </c:pt>
              </c:strCache>
            </c:strRef>
          </c:tx>
          <c:spPr>
            <a:ln w="28575" cap="rnd">
              <a:solidFill>
                <a:srgbClr val="00B05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rgbClr val="00B050"/>
                </a:solidFill>
              </a:ln>
              <a:effectLst/>
            </c:spPr>
          </c:marker>
          <c:dLbls>
            <c:dLbl>
              <c:idx val="1"/>
              <c:layout>
                <c:manualLayout>
                  <c:x val="-2.6743516451292176E-2"/>
                  <c:y val="-2.7412925502732697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A734-4B77-A07F-F9724AA52295}"/>
                </c:ext>
              </c:extLst>
            </c:dLbl>
            <c:dLbl>
              <c:idx val="4"/>
              <c:layout>
                <c:manualLayout>
                  <c:x val="-8.9852194343001714E-3"/>
                  <c:y val="-2.7412925502732697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03C9-4B45-86DE-71FFE47BB90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rgbClr val="00B050"/>
                    </a:solidFill>
                    <a:latin typeface="Dosis" pitchFamily="2" charset="0"/>
                    <a:ea typeface="+mn-ea"/>
                    <a:cs typeface="+mn-cs"/>
                  </a:defRPr>
                </a:pPr>
                <a:endParaRPr lang="es-CO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'Var anual'!$C$1:$G$1</c:f>
              <c:numCache>
                <c:formatCode>General</c:formatCod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numCache>
            </c:numRef>
          </c:cat>
          <c:val>
            <c:numRef>
              <c:f>'Var anual'!$C$4:$G$4</c:f>
              <c:numCache>
                <c:formatCode>#,##0.0</c:formatCode>
                <c:ptCount val="5"/>
                <c:pt idx="0">
                  <c:v>-5.6872022000000015</c:v>
                </c:pt>
                <c:pt idx="1">
                  <c:v>3.6388879000000003</c:v>
                </c:pt>
                <c:pt idx="2">
                  <c:v>-2.6980462000000074</c:v>
                </c:pt>
                <c:pt idx="3">
                  <c:v>-3.4203308411999913</c:v>
                </c:pt>
                <c:pt idx="4">
                  <c:v>-0.86310993560000071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8019-4077-BEF1-92F445470E4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67038032"/>
        <c:axId val="867039472"/>
      </c:lineChart>
      <c:catAx>
        <c:axId val="86703803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ysClr val="windowText" lastClr="000000"/>
                </a:solidFill>
                <a:latin typeface="Dosis" pitchFamily="2" charset="0"/>
                <a:ea typeface="+mn-ea"/>
                <a:cs typeface="+mn-cs"/>
              </a:defRPr>
            </a:pPr>
            <a:endParaRPr lang="es-CO"/>
          </a:p>
        </c:txPr>
        <c:crossAx val="867039472"/>
        <c:crosses val="autoZero"/>
        <c:auto val="1"/>
        <c:lblAlgn val="ctr"/>
        <c:lblOffset val="100"/>
        <c:noMultiLvlLbl val="0"/>
      </c:catAx>
      <c:valAx>
        <c:axId val="8670394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ysClr val="windowText" lastClr="000000"/>
                    </a:solidFill>
                    <a:latin typeface="Dosis" pitchFamily="2" charset="0"/>
                    <a:ea typeface="+mn-ea"/>
                    <a:cs typeface="+mn-cs"/>
                  </a:defRPr>
                </a:pPr>
                <a:r>
                  <a:rPr lang="es-CO"/>
                  <a:t>Variación anual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200" b="0" i="0" u="none" strike="noStrike" kern="1200" baseline="0">
                  <a:solidFill>
                    <a:sysClr val="windowText" lastClr="000000"/>
                  </a:solidFill>
                  <a:latin typeface="Dosis" pitchFamily="2" charset="0"/>
                  <a:ea typeface="+mn-ea"/>
                  <a:cs typeface="+mn-cs"/>
                </a:defRPr>
              </a:pPr>
              <a:endParaRPr lang="es-CO"/>
            </a:p>
          </c:txPr>
        </c:title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ysClr val="windowText" lastClr="000000"/>
                </a:solidFill>
                <a:latin typeface="Dosis" pitchFamily="2" charset="0"/>
                <a:ea typeface="+mn-ea"/>
                <a:cs typeface="+mn-cs"/>
              </a:defRPr>
            </a:pPr>
            <a:endParaRPr lang="es-CO"/>
          </a:p>
        </c:txPr>
        <c:crossAx val="86703803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5.9589676290463689E-2"/>
          <c:y val="8.0730533683288971E-3"/>
          <c:w val="0.88082042869641286"/>
          <c:h val="7.988990959463400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ysClr val="windowText" lastClr="000000"/>
              </a:solidFill>
              <a:latin typeface="Dosis" pitchFamily="2" charset="0"/>
              <a:ea typeface="+mn-ea"/>
              <a:cs typeface="+mn-cs"/>
            </a:defRPr>
          </a:pPr>
          <a:endParaRPr lang="es-CO"/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sz="1200">
          <a:solidFill>
            <a:sysClr val="windowText" lastClr="000000"/>
          </a:solidFill>
          <a:latin typeface="Dosis" pitchFamily="2" charset="0"/>
        </a:defRPr>
      </a:pPr>
      <a:endParaRPr lang="es-CO"/>
    </a:p>
  </c:txPr>
  <c:externalData r:id="rId4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9.3774401247418357E-2"/>
          <c:y val="0.14814814814814814"/>
          <c:w val="0.90617244627939686"/>
          <c:h val="0.76374999999999993"/>
        </c:manualLayout>
      </c:layout>
      <c:lineChart>
        <c:grouping val="standard"/>
        <c:varyColors val="0"/>
        <c:ser>
          <c:idx val="0"/>
          <c:order val="0"/>
          <c:tx>
            <c:strRef>
              <c:f>'Var anual'!$A$2</c:f>
              <c:strCache>
                <c:ptCount val="1"/>
                <c:pt idx="0">
                  <c:v>Total nacional</c:v>
                </c:pt>
              </c:strCache>
            </c:strRef>
          </c:tx>
          <c:spPr>
            <a:ln w="28575" cap="rnd">
              <a:solidFill>
                <a:srgbClr val="00206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rgbClr val="002060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rgbClr val="002060"/>
                    </a:solidFill>
                    <a:latin typeface="Dosis" pitchFamily="2" charset="0"/>
                    <a:ea typeface="+mn-ea"/>
                    <a:cs typeface="+mn-cs"/>
                  </a:defRPr>
                </a:pPr>
                <a:endParaRPr lang="es-CO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'Var anual'!$C$1:$G$1</c:f>
              <c:numCache>
                <c:formatCode>General</c:formatCod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numCache>
            </c:numRef>
          </c:cat>
          <c:val>
            <c:numRef>
              <c:f>'Var anual'!$C$2:$G$2</c:f>
              <c:numCache>
                <c:formatCode>0</c:formatCode>
                <c:ptCount val="5"/>
                <c:pt idx="0">
                  <c:v>-102</c:v>
                </c:pt>
                <c:pt idx="1">
                  <c:v>137</c:v>
                </c:pt>
                <c:pt idx="2">
                  <c:v>41.460000000000036</c:v>
                </c:pt>
                <c:pt idx="3">
                  <c:v>-128.46000000000004</c:v>
                </c:pt>
                <c:pt idx="4">
                  <c:v>-234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8019-4077-BEF1-92F445470E4F}"/>
            </c:ext>
          </c:extLst>
        </c:ser>
        <c:ser>
          <c:idx val="1"/>
          <c:order val="1"/>
          <c:tx>
            <c:strRef>
              <c:f>'Var anual'!$A$3</c:f>
              <c:strCache>
                <c:ptCount val="1"/>
                <c:pt idx="0">
                  <c:v>Cabecera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dLbls>
            <c:dLbl>
              <c:idx val="4"/>
              <c:layout>
                <c:manualLayout>
                  <c:x val="-2.4028008926907155E-2"/>
                  <c:y val="5.9441135803454011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D4FD-4FA2-BA15-A138B3B104A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rgbClr val="00B0F0"/>
                    </a:solidFill>
                    <a:latin typeface="Dosis" pitchFamily="2" charset="0"/>
                    <a:ea typeface="+mn-ea"/>
                    <a:cs typeface="+mn-cs"/>
                  </a:defRPr>
                </a:pPr>
                <a:endParaRPr lang="es-CO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'Var anual'!$C$1:$G$1</c:f>
              <c:numCache>
                <c:formatCode>General</c:formatCod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numCache>
            </c:numRef>
          </c:cat>
          <c:val>
            <c:numRef>
              <c:f>'Var anual'!$C$3:$G$3</c:f>
              <c:numCache>
                <c:formatCode>0</c:formatCode>
                <c:ptCount val="5"/>
                <c:pt idx="0">
                  <c:v>71</c:v>
                </c:pt>
                <c:pt idx="1">
                  <c:v>-29</c:v>
                </c:pt>
                <c:pt idx="2">
                  <c:v>97.090000000000146</c:v>
                </c:pt>
                <c:pt idx="3">
                  <c:v>-48.090000000000146</c:v>
                </c:pt>
                <c:pt idx="4">
                  <c:v>-251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8019-4077-BEF1-92F445470E4F}"/>
            </c:ext>
          </c:extLst>
        </c:ser>
        <c:ser>
          <c:idx val="2"/>
          <c:order val="2"/>
          <c:tx>
            <c:strRef>
              <c:f>'Var anual'!$A$4</c:f>
              <c:strCache>
                <c:ptCount val="1"/>
                <c:pt idx="0">
                  <c:v>Centros poblados y rural disperso</c:v>
                </c:pt>
              </c:strCache>
            </c:strRef>
          </c:tx>
          <c:spPr>
            <a:ln w="28575" cap="rnd">
              <a:solidFill>
                <a:srgbClr val="00B05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rgbClr val="00B050"/>
                </a:solidFill>
              </a:ln>
              <a:effectLst/>
            </c:spPr>
          </c:marker>
          <c:dLbls>
            <c:dLbl>
              <c:idx val="1"/>
              <c:layout>
                <c:manualLayout>
                  <c:x val="-1.517217023809155E-2"/>
                  <c:y val="-5.9440906540884061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A734-4B77-A07F-F9724AA52295}"/>
                </c:ext>
              </c:extLst>
            </c:dLbl>
            <c:dLbl>
              <c:idx val="3"/>
              <c:layout>
                <c:manualLayout>
                  <c:x val="-2.489877778929862E-2"/>
                  <c:y val="0.11525717184903243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D4FD-4FA2-BA15-A138B3B104A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rgbClr val="00B050"/>
                    </a:solidFill>
                    <a:latin typeface="Dosis" pitchFamily="2" charset="0"/>
                    <a:ea typeface="+mn-ea"/>
                    <a:cs typeface="+mn-cs"/>
                  </a:defRPr>
                </a:pPr>
                <a:endParaRPr lang="es-CO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'Var anual'!$C$1:$G$1</c:f>
              <c:numCache>
                <c:formatCode>General</c:formatCod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numCache>
            </c:numRef>
          </c:cat>
          <c:val>
            <c:numRef>
              <c:f>'Var anual'!$C$4:$G$4</c:f>
              <c:numCache>
                <c:formatCode>0</c:formatCode>
                <c:ptCount val="5"/>
                <c:pt idx="0">
                  <c:v>-173</c:v>
                </c:pt>
                <c:pt idx="1">
                  <c:v>165</c:v>
                </c:pt>
                <c:pt idx="2">
                  <c:v>-54.630000000000109</c:v>
                </c:pt>
                <c:pt idx="3">
                  <c:v>-80.369999999999891</c:v>
                </c:pt>
                <c:pt idx="4">
                  <c:v>17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8019-4077-BEF1-92F445470E4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67038032"/>
        <c:axId val="867039472"/>
      </c:lineChart>
      <c:catAx>
        <c:axId val="86703803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ysClr val="windowText" lastClr="000000"/>
                </a:solidFill>
                <a:latin typeface="Dosis" pitchFamily="2" charset="0"/>
                <a:ea typeface="+mn-ea"/>
                <a:cs typeface="+mn-cs"/>
              </a:defRPr>
            </a:pPr>
            <a:endParaRPr lang="es-CO"/>
          </a:p>
        </c:txPr>
        <c:crossAx val="867039472"/>
        <c:crosses val="autoZero"/>
        <c:auto val="1"/>
        <c:lblAlgn val="ctr"/>
        <c:lblOffset val="100"/>
        <c:noMultiLvlLbl val="0"/>
      </c:catAx>
      <c:valAx>
        <c:axId val="8670394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ysClr val="windowText" lastClr="000000"/>
                    </a:solidFill>
                    <a:latin typeface="Dosis" pitchFamily="2" charset="0"/>
                    <a:ea typeface="+mn-ea"/>
                    <a:cs typeface="+mn-cs"/>
                  </a:defRPr>
                </a:pPr>
                <a:r>
                  <a:rPr lang="es-CO"/>
                  <a:t>Variación</a:t>
                </a:r>
                <a:r>
                  <a:rPr lang="es-CO" baseline="0"/>
                  <a:t> hogares</a:t>
                </a:r>
                <a:endParaRPr lang="es-CO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200" b="0" i="0" u="none" strike="noStrike" kern="1200" baseline="0">
                  <a:solidFill>
                    <a:sysClr val="windowText" lastClr="000000"/>
                  </a:solidFill>
                  <a:latin typeface="Dosis" pitchFamily="2" charset="0"/>
                  <a:ea typeface="+mn-ea"/>
                  <a:cs typeface="+mn-cs"/>
                </a:defRPr>
              </a:pPr>
              <a:endParaRPr lang="es-CO"/>
            </a:p>
          </c:txPr>
        </c:title>
        <c:numFmt formatCode="#,##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ysClr val="windowText" lastClr="000000"/>
                </a:solidFill>
                <a:latin typeface="Dosis" pitchFamily="2" charset="0"/>
                <a:ea typeface="+mn-ea"/>
                <a:cs typeface="+mn-cs"/>
              </a:defRPr>
            </a:pPr>
            <a:endParaRPr lang="es-CO"/>
          </a:p>
        </c:txPr>
        <c:crossAx val="867038032"/>
        <c:crosses val="autoZero"/>
        <c:crossBetween val="between"/>
        <c:majorUnit val="100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5.9589676290463689E-2"/>
          <c:y val="8.0730533683288971E-3"/>
          <c:w val="0.88082042869641286"/>
          <c:h val="7.988990959463400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ysClr val="windowText" lastClr="000000"/>
              </a:solidFill>
              <a:latin typeface="Dosis" pitchFamily="2" charset="0"/>
              <a:ea typeface="+mn-ea"/>
              <a:cs typeface="+mn-cs"/>
            </a:defRPr>
          </a:pPr>
          <a:endParaRPr lang="es-CO"/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sz="1200">
          <a:solidFill>
            <a:sysClr val="windowText" lastClr="000000"/>
          </a:solidFill>
          <a:latin typeface="Dosis" pitchFamily="2" charset="0"/>
        </a:defRPr>
      </a:pPr>
      <a:endParaRPr lang="es-CO"/>
    </a:p>
  </c:txPr>
  <c:externalData r:id="rId4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6.8708223972003504E-2"/>
          <c:y val="0.14814814814814814"/>
          <c:w val="0.90073622047244095"/>
          <c:h val="0.76374999999999993"/>
        </c:manualLayout>
      </c:layout>
      <c:lineChart>
        <c:grouping val="standard"/>
        <c:varyColors val="0"/>
        <c:ser>
          <c:idx val="0"/>
          <c:order val="0"/>
          <c:tx>
            <c:strRef>
              <c:f>Hoja3!$A$2</c:f>
              <c:strCache>
                <c:ptCount val="1"/>
                <c:pt idx="0">
                  <c:v>Total nacional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rgbClr val="002060"/>
                    </a:solidFill>
                    <a:latin typeface="Dosis" pitchFamily="2" charset="0"/>
                    <a:ea typeface="+mn-ea"/>
                    <a:cs typeface="+mn-cs"/>
                  </a:defRPr>
                </a:pPr>
                <a:endParaRPr lang="es-CO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Hoja3!$B$1:$G$1</c:f>
              <c:numCache>
                <c:formatCode>General</c:formatCode>
                <c:ptCount val="6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</c:numCache>
            </c:numRef>
          </c:cat>
          <c:val>
            <c:numRef>
              <c:f>Hoja3!$B$2:$G$2</c:f>
              <c:numCache>
                <c:formatCode>General</c:formatCode>
                <c:ptCount val="6"/>
                <c:pt idx="0">
                  <c:v>48.3</c:v>
                </c:pt>
                <c:pt idx="1">
                  <c:v>43.6</c:v>
                </c:pt>
                <c:pt idx="2">
                  <c:v>47.5</c:v>
                </c:pt>
                <c:pt idx="3">
                  <c:v>44.3</c:v>
                </c:pt>
                <c:pt idx="4">
                  <c:v>42.1</c:v>
                </c:pt>
                <c:pt idx="5">
                  <c:v>40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3AC8-414B-8576-88B33D33D1E7}"/>
            </c:ext>
          </c:extLst>
        </c:ser>
        <c:ser>
          <c:idx val="1"/>
          <c:order val="1"/>
          <c:tx>
            <c:strRef>
              <c:f>Hoja3!$A$3</c:f>
              <c:strCache>
                <c:ptCount val="1"/>
                <c:pt idx="0">
                  <c:v>Cabecera</c:v>
                </c:pt>
              </c:strCache>
            </c:strRef>
          </c:tx>
          <c:spPr>
            <a:ln w="28575" cap="rnd">
              <a:solidFill>
                <a:srgbClr val="00B0F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rgbClr val="00B0F0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rgbClr val="00B0F0"/>
                    </a:solidFill>
                    <a:latin typeface="Dosis" pitchFamily="2" charset="0"/>
                    <a:ea typeface="+mn-ea"/>
                    <a:cs typeface="+mn-cs"/>
                  </a:defRPr>
                </a:pPr>
                <a:endParaRPr lang="es-CO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Hoja3!$B$1:$G$1</c:f>
              <c:numCache>
                <c:formatCode>General</c:formatCode>
                <c:ptCount val="6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</c:numCache>
            </c:numRef>
          </c:cat>
          <c:val>
            <c:numRef>
              <c:f>Hoja3!$B$3:$G$3</c:f>
              <c:numCache>
                <c:formatCode>General</c:formatCode>
                <c:ptCount val="6"/>
                <c:pt idx="0">
                  <c:v>24.6</c:v>
                </c:pt>
                <c:pt idx="1">
                  <c:v>23.6</c:v>
                </c:pt>
                <c:pt idx="2">
                  <c:v>23.5</c:v>
                </c:pt>
                <c:pt idx="3">
                  <c:v>23.1</c:v>
                </c:pt>
                <c:pt idx="4">
                  <c:v>22.1</c:v>
                </c:pt>
                <c:pt idx="5">
                  <c:v>20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3AC8-414B-8576-88B33D33D1E7}"/>
            </c:ext>
          </c:extLst>
        </c:ser>
        <c:ser>
          <c:idx val="2"/>
          <c:order val="2"/>
          <c:tx>
            <c:strRef>
              <c:f>Hoja3!$A$4</c:f>
              <c:strCache>
                <c:ptCount val="1"/>
                <c:pt idx="0">
                  <c:v>Centros poblados y rural disperso</c:v>
                </c:pt>
              </c:strCache>
            </c:strRef>
          </c:tx>
          <c:spPr>
            <a:ln w="28575" cap="rnd">
              <a:solidFill>
                <a:srgbClr val="00B05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rgbClr val="00B050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rgbClr val="00B050"/>
                    </a:solidFill>
                    <a:latin typeface="Dosis" pitchFamily="2" charset="0"/>
                    <a:ea typeface="+mn-ea"/>
                    <a:cs typeface="+mn-cs"/>
                  </a:defRPr>
                </a:pPr>
                <a:endParaRPr lang="es-CO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Hoja3!$B$1:$G$1</c:f>
              <c:numCache>
                <c:formatCode>General</c:formatCode>
                <c:ptCount val="6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</c:numCache>
            </c:numRef>
          </c:cat>
          <c:val>
            <c:numRef>
              <c:f>Hoja3!$B$4:$G$4</c:f>
              <c:numCache>
                <c:formatCode>General</c:formatCode>
                <c:ptCount val="6"/>
                <c:pt idx="0">
                  <c:v>17.5</c:v>
                </c:pt>
                <c:pt idx="1">
                  <c:v>17.399999999999999</c:v>
                </c:pt>
                <c:pt idx="2">
                  <c:v>16.7</c:v>
                </c:pt>
                <c:pt idx="3">
                  <c:v>17.100000000000001</c:v>
                </c:pt>
                <c:pt idx="4">
                  <c:v>16.5</c:v>
                </c:pt>
                <c:pt idx="5">
                  <c:v>14.5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3AC8-414B-8576-88B33D33D1E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67038032"/>
        <c:axId val="867039472"/>
      </c:lineChart>
      <c:catAx>
        <c:axId val="86703803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ysClr val="windowText" lastClr="000000"/>
                </a:solidFill>
                <a:latin typeface="Dosis" pitchFamily="2" charset="0"/>
                <a:ea typeface="+mn-ea"/>
                <a:cs typeface="+mn-cs"/>
              </a:defRPr>
            </a:pPr>
            <a:endParaRPr lang="es-CO"/>
          </a:p>
        </c:txPr>
        <c:crossAx val="867039472"/>
        <c:crosses val="autoZero"/>
        <c:auto val="1"/>
        <c:lblAlgn val="ctr"/>
        <c:lblOffset val="100"/>
        <c:noMultiLvlLbl val="0"/>
      </c:catAx>
      <c:valAx>
        <c:axId val="8670394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ysClr val="windowText" lastClr="000000"/>
                    </a:solidFill>
                    <a:latin typeface="Dosis" pitchFamily="2" charset="0"/>
                    <a:ea typeface="+mn-ea"/>
                    <a:cs typeface="+mn-cs"/>
                  </a:defRPr>
                </a:pPr>
                <a:r>
                  <a:rPr lang="es-MX"/>
                  <a:t>Porcentaje</a:t>
                </a:r>
                <a:r>
                  <a:rPr lang="es-MX" baseline="0"/>
                  <a:t> de hogares</a:t>
                </a:r>
                <a:endParaRPr lang="es-CO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200" b="0" i="0" u="none" strike="noStrike" kern="1200" baseline="0">
                  <a:solidFill>
                    <a:sysClr val="windowText" lastClr="000000"/>
                  </a:solidFill>
                  <a:latin typeface="Dosis" pitchFamily="2" charset="0"/>
                  <a:ea typeface="+mn-ea"/>
                  <a:cs typeface="+mn-cs"/>
                </a:defRPr>
              </a:pPr>
              <a:endParaRPr lang="es-CO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ysClr val="windowText" lastClr="000000"/>
                </a:solidFill>
                <a:latin typeface="Dosis" pitchFamily="2" charset="0"/>
                <a:ea typeface="+mn-ea"/>
                <a:cs typeface="+mn-cs"/>
              </a:defRPr>
            </a:pPr>
            <a:endParaRPr lang="es-CO"/>
          </a:p>
        </c:txPr>
        <c:crossAx val="86703803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5.9589676290463689E-2"/>
          <c:y val="8.0730533683288971E-3"/>
          <c:w val="0.88082042869641286"/>
          <c:h val="7.988990959463400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ysClr val="windowText" lastClr="000000"/>
              </a:solidFill>
              <a:latin typeface="Dosis" pitchFamily="2" charset="0"/>
              <a:ea typeface="+mn-ea"/>
              <a:cs typeface="+mn-cs"/>
            </a:defRPr>
          </a:pPr>
          <a:endParaRPr lang="es-CO"/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sz="1200">
          <a:solidFill>
            <a:sysClr val="windowText" lastClr="000000"/>
          </a:solidFill>
          <a:latin typeface="Dosis" pitchFamily="2" charset="0"/>
        </a:defRPr>
      </a:pPr>
      <a:endParaRPr lang="es-CO"/>
    </a:p>
  </c:txPr>
  <c:externalData r:id="rId4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9.3774401247418357E-2"/>
          <c:y val="0.14814814814814814"/>
          <c:w val="0.90617244627939686"/>
          <c:h val="0.76374999999999993"/>
        </c:manualLayout>
      </c:layout>
      <c:lineChart>
        <c:grouping val="standard"/>
        <c:varyColors val="0"/>
        <c:ser>
          <c:idx val="0"/>
          <c:order val="0"/>
          <c:tx>
            <c:strRef>
              <c:f>'Var anual'!$A$2</c:f>
              <c:strCache>
                <c:ptCount val="1"/>
                <c:pt idx="0">
                  <c:v>Total nacional</c:v>
                </c:pt>
              </c:strCache>
            </c:strRef>
          </c:tx>
          <c:spPr>
            <a:ln w="28575" cap="rnd">
              <a:solidFill>
                <a:srgbClr val="00206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rgbClr val="002060"/>
                </a:solidFill>
              </a:ln>
              <a:effectLst/>
            </c:spPr>
          </c:marker>
          <c:dLbls>
            <c:dLbl>
              <c:idx val="4"/>
              <c:layout>
                <c:manualLayout>
                  <c:x val="4.9230735286507682E-3"/>
                  <c:y val="4.4882962604294412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01B5-4A3E-AAB2-8201E6C25D9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rgbClr val="002060"/>
                    </a:solidFill>
                    <a:latin typeface="Dosis" pitchFamily="2" charset="0"/>
                    <a:ea typeface="+mn-ea"/>
                    <a:cs typeface="+mn-cs"/>
                  </a:defRPr>
                </a:pPr>
                <a:endParaRPr lang="es-CO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'Var anual'!$C$1:$G$1</c:f>
              <c:numCache>
                <c:formatCode>General</c:formatCod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numCache>
            </c:numRef>
          </c:cat>
          <c:val>
            <c:numRef>
              <c:f>'Var anual'!$C$2:$G$2</c:f>
              <c:numCache>
                <c:formatCode>General</c:formatCode>
                <c:ptCount val="5"/>
                <c:pt idx="0">
                  <c:v>-1.2000000000000028</c:v>
                </c:pt>
                <c:pt idx="1">
                  <c:v>0.10000000000000142</c:v>
                </c:pt>
                <c:pt idx="2">
                  <c:v>-0.39999999999999858</c:v>
                </c:pt>
                <c:pt idx="3">
                  <c:v>-1</c:v>
                </c:pt>
                <c:pt idx="4" formatCode="0.00">
                  <c:v>-2.0722070019000007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8019-4077-BEF1-92F445470E4F}"/>
            </c:ext>
          </c:extLst>
        </c:ser>
        <c:ser>
          <c:idx val="1"/>
          <c:order val="1"/>
          <c:tx>
            <c:strRef>
              <c:f>'Var anual'!$A$3</c:f>
              <c:strCache>
                <c:ptCount val="1"/>
                <c:pt idx="0">
                  <c:v>Cabecera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dLbls>
            <c:dLbl>
              <c:idx val="4"/>
              <c:layout>
                <c:manualLayout>
                  <c:x val="4.6401437340418085E-3"/>
                  <c:y val="-1.7031916330167596E-3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01B5-4A3E-AAB2-8201E6C25D9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rgbClr val="00B0F0"/>
                    </a:solidFill>
                    <a:latin typeface="Dosis" pitchFamily="2" charset="0"/>
                    <a:ea typeface="+mn-ea"/>
                    <a:cs typeface="+mn-cs"/>
                  </a:defRPr>
                </a:pPr>
                <a:endParaRPr lang="es-CO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'Var anual'!$C$1:$G$1</c:f>
              <c:numCache>
                <c:formatCode>General</c:formatCod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numCache>
            </c:numRef>
          </c:cat>
          <c:val>
            <c:numRef>
              <c:f>'Var anual'!$C$3:$G$3</c:f>
              <c:numCache>
                <c:formatCode>General</c:formatCode>
                <c:ptCount val="5"/>
                <c:pt idx="0">
                  <c:v>-0.10000000000000142</c:v>
                </c:pt>
                <c:pt idx="1">
                  <c:v>-0.69999999999999929</c:v>
                </c:pt>
                <c:pt idx="2">
                  <c:v>0.40000000000000213</c:v>
                </c:pt>
                <c:pt idx="3">
                  <c:v>-0.60000000000000142</c:v>
                </c:pt>
                <c:pt idx="4" formatCode="0.00">
                  <c:v>-2.0131090025000002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8019-4077-BEF1-92F445470E4F}"/>
            </c:ext>
          </c:extLst>
        </c:ser>
        <c:ser>
          <c:idx val="2"/>
          <c:order val="2"/>
          <c:tx>
            <c:strRef>
              <c:f>'Var anual'!$A$4</c:f>
              <c:strCache>
                <c:ptCount val="1"/>
                <c:pt idx="0">
                  <c:v>Centros poblados y rural disperso</c:v>
                </c:pt>
              </c:strCache>
            </c:strRef>
          </c:tx>
          <c:spPr>
            <a:ln w="28575" cap="rnd">
              <a:solidFill>
                <a:srgbClr val="00B05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rgbClr val="00B050"/>
                </a:solidFill>
              </a:ln>
              <a:effectLst/>
            </c:spPr>
          </c:marker>
          <c:dLbls>
            <c:dLbl>
              <c:idx val="4"/>
              <c:layout>
                <c:manualLayout>
                  <c:x val="4.2757111380948469E-3"/>
                  <c:y val="0.10361063328970456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01B5-4A3E-AAB2-8201E6C25D9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rgbClr val="00B050"/>
                    </a:solidFill>
                    <a:latin typeface="Dosis" pitchFamily="2" charset="0"/>
                    <a:ea typeface="+mn-ea"/>
                    <a:cs typeface="+mn-cs"/>
                  </a:defRPr>
                </a:pPr>
                <a:endParaRPr lang="es-CO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'Var anual'!$C$1:$G$1</c:f>
              <c:numCache>
                <c:formatCode>General</c:formatCod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numCache>
            </c:numRef>
          </c:cat>
          <c:val>
            <c:numRef>
              <c:f>'Var anual'!$C$4:$G$4</c:f>
              <c:numCache>
                <c:formatCode>General</c:formatCode>
                <c:ptCount val="5"/>
                <c:pt idx="0">
                  <c:v>-4.6999999999999957</c:v>
                </c:pt>
                <c:pt idx="1">
                  <c:v>3.8999999999999986</c:v>
                </c:pt>
                <c:pt idx="2">
                  <c:v>-3.2000000000000028</c:v>
                </c:pt>
                <c:pt idx="3">
                  <c:v>-2.1999999999999957</c:v>
                </c:pt>
                <c:pt idx="4" formatCode="0.00">
                  <c:v>-2.142020362300002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8019-4077-BEF1-92F445470E4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67038032"/>
        <c:axId val="867039472"/>
      </c:lineChart>
      <c:catAx>
        <c:axId val="86703803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ysClr val="windowText" lastClr="000000"/>
                </a:solidFill>
                <a:latin typeface="Dosis" pitchFamily="2" charset="0"/>
                <a:ea typeface="+mn-ea"/>
                <a:cs typeface="+mn-cs"/>
              </a:defRPr>
            </a:pPr>
            <a:endParaRPr lang="es-CO"/>
          </a:p>
        </c:txPr>
        <c:crossAx val="867039472"/>
        <c:crosses val="autoZero"/>
        <c:auto val="1"/>
        <c:lblAlgn val="ctr"/>
        <c:lblOffset val="100"/>
        <c:noMultiLvlLbl val="0"/>
      </c:catAx>
      <c:valAx>
        <c:axId val="8670394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ysClr val="windowText" lastClr="000000"/>
                    </a:solidFill>
                    <a:latin typeface="Dosis" pitchFamily="2" charset="0"/>
                    <a:ea typeface="+mn-ea"/>
                    <a:cs typeface="+mn-cs"/>
                  </a:defRPr>
                </a:pPr>
                <a:r>
                  <a:rPr lang="es-CO"/>
                  <a:t>Variación anual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200" b="0" i="0" u="none" strike="noStrike" kern="1200" baseline="0">
                  <a:solidFill>
                    <a:sysClr val="windowText" lastClr="000000"/>
                  </a:solidFill>
                  <a:latin typeface="Dosis" pitchFamily="2" charset="0"/>
                  <a:ea typeface="+mn-ea"/>
                  <a:cs typeface="+mn-cs"/>
                </a:defRPr>
              </a:pPr>
              <a:endParaRPr lang="es-CO"/>
            </a:p>
          </c:txPr>
        </c:title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ysClr val="windowText" lastClr="000000"/>
                </a:solidFill>
                <a:latin typeface="Dosis" pitchFamily="2" charset="0"/>
                <a:ea typeface="+mn-ea"/>
                <a:cs typeface="+mn-cs"/>
              </a:defRPr>
            </a:pPr>
            <a:endParaRPr lang="es-CO"/>
          </a:p>
        </c:txPr>
        <c:crossAx val="86703803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5.9589676290463689E-2"/>
          <c:y val="8.0730533683288971E-3"/>
          <c:w val="0.88082042869641286"/>
          <c:h val="7.988990959463400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ysClr val="windowText" lastClr="000000"/>
              </a:solidFill>
              <a:latin typeface="Dosis" pitchFamily="2" charset="0"/>
              <a:ea typeface="+mn-ea"/>
              <a:cs typeface="+mn-cs"/>
            </a:defRPr>
          </a:pPr>
          <a:endParaRPr lang="es-CO"/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sz="1200">
          <a:solidFill>
            <a:sysClr val="windowText" lastClr="000000"/>
          </a:solidFill>
          <a:latin typeface="Dosis" pitchFamily="2" charset="0"/>
        </a:defRPr>
      </a:pPr>
      <a:endParaRPr lang="es-CO"/>
    </a:p>
  </c:txPr>
  <c:externalData r:id="rId4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9.3774401247418357E-2"/>
          <c:y val="0.14814814814814814"/>
          <c:w val="0.90617244627939686"/>
          <c:h val="0.76374999999999993"/>
        </c:manualLayout>
      </c:layout>
      <c:lineChart>
        <c:grouping val="standard"/>
        <c:varyColors val="0"/>
        <c:ser>
          <c:idx val="0"/>
          <c:order val="0"/>
          <c:tx>
            <c:strRef>
              <c:f>'Var anual'!$A$2</c:f>
              <c:strCache>
                <c:ptCount val="1"/>
                <c:pt idx="0">
                  <c:v>Total nacional</c:v>
                </c:pt>
              </c:strCache>
            </c:strRef>
          </c:tx>
          <c:spPr>
            <a:ln w="28575" cap="rnd">
              <a:solidFill>
                <a:srgbClr val="00206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rgbClr val="002060"/>
                </a:solidFill>
              </a:ln>
              <a:effectLst/>
            </c:spPr>
          </c:marker>
          <c:dLbls>
            <c:dLbl>
              <c:idx val="4"/>
              <c:layout>
                <c:manualLayout>
                  <c:x val="-9.2455298496870782E-3"/>
                  <c:y val="2.4501520125470713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D5FB-4D56-9FFC-9F0C42A4829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rgbClr val="002060"/>
                    </a:solidFill>
                    <a:latin typeface="Dosis" pitchFamily="2" charset="0"/>
                    <a:ea typeface="+mn-ea"/>
                    <a:cs typeface="+mn-cs"/>
                  </a:defRPr>
                </a:pPr>
                <a:endParaRPr lang="es-CO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'Var anual'!$C$1:$G$1</c:f>
              <c:numCache>
                <c:formatCode>General</c:formatCod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numCache>
            </c:numRef>
          </c:cat>
          <c:val>
            <c:numRef>
              <c:f>'Var anual'!$C$2:$G$2</c:f>
              <c:numCache>
                <c:formatCode>0</c:formatCode>
                <c:ptCount val="5"/>
                <c:pt idx="0">
                  <c:v>-107</c:v>
                </c:pt>
                <c:pt idx="1">
                  <c:v>177</c:v>
                </c:pt>
                <c:pt idx="2">
                  <c:v>36</c:v>
                </c:pt>
                <c:pt idx="3">
                  <c:v>-69</c:v>
                </c:pt>
                <c:pt idx="4">
                  <c:v>-274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8019-4077-BEF1-92F445470E4F}"/>
            </c:ext>
          </c:extLst>
        </c:ser>
        <c:ser>
          <c:idx val="1"/>
          <c:order val="1"/>
          <c:tx>
            <c:strRef>
              <c:f>'Var anual'!$A$3</c:f>
              <c:strCache>
                <c:ptCount val="1"/>
                <c:pt idx="0">
                  <c:v>Cabecera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dLbls>
            <c:dLbl>
              <c:idx val="4"/>
              <c:layout>
                <c:manualLayout>
                  <c:x val="9.5289830181393628E-3"/>
                  <c:y val="-3.6642807310999947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D4FD-4FA2-BA15-A138B3B104A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rgbClr val="00B0F0"/>
                    </a:solidFill>
                    <a:latin typeface="Dosis" pitchFamily="2" charset="0"/>
                    <a:ea typeface="+mn-ea"/>
                    <a:cs typeface="+mn-cs"/>
                  </a:defRPr>
                </a:pPr>
                <a:endParaRPr lang="es-CO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'Var anual'!$C$1:$G$1</c:f>
              <c:numCache>
                <c:formatCode>General</c:formatCod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numCache>
            </c:numRef>
          </c:cat>
          <c:val>
            <c:numRef>
              <c:f>'Var anual'!$C$3:$G$3</c:f>
              <c:numCache>
                <c:formatCode>0</c:formatCode>
                <c:ptCount val="5"/>
                <c:pt idx="0">
                  <c:v>41</c:v>
                </c:pt>
                <c:pt idx="1">
                  <c:v>13</c:v>
                </c:pt>
                <c:pt idx="2">
                  <c:v>125</c:v>
                </c:pt>
                <c:pt idx="3">
                  <c:v>-22</c:v>
                </c:pt>
                <c:pt idx="4">
                  <c:v>-222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8019-4077-BEF1-92F445470E4F}"/>
            </c:ext>
          </c:extLst>
        </c:ser>
        <c:ser>
          <c:idx val="2"/>
          <c:order val="2"/>
          <c:tx>
            <c:strRef>
              <c:f>'Var anual'!$A$4</c:f>
              <c:strCache>
                <c:ptCount val="1"/>
                <c:pt idx="0">
                  <c:v>Centros poblados y rural disperso</c:v>
                </c:pt>
              </c:strCache>
            </c:strRef>
          </c:tx>
          <c:spPr>
            <a:ln w="28575" cap="rnd">
              <a:solidFill>
                <a:srgbClr val="00B05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rgbClr val="00B050"/>
                </a:solidFill>
              </a:ln>
              <a:effectLst/>
            </c:spPr>
          </c:marker>
          <c:dLbls>
            <c:dLbl>
              <c:idx val="1"/>
              <c:layout>
                <c:manualLayout>
                  <c:x val="-1.6329307891368969E-2"/>
                  <c:y val="8.3229190810881024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A734-4B77-A07F-F9724AA52295}"/>
                </c:ext>
              </c:extLst>
            </c:dLbl>
            <c:dLbl>
              <c:idx val="3"/>
              <c:layout>
                <c:manualLayout>
                  <c:x val="-2.489877778929862E-2"/>
                  <c:y val="0.11525717184903243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D4FD-4FA2-BA15-A138B3B104A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rgbClr val="00B050"/>
                    </a:solidFill>
                    <a:latin typeface="Dosis" pitchFamily="2" charset="0"/>
                    <a:ea typeface="+mn-ea"/>
                    <a:cs typeface="+mn-cs"/>
                  </a:defRPr>
                </a:pPr>
                <a:endParaRPr lang="es-CO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'Var anual'!$C$1:$G$1</c:f>
              <c:numCache>
                <c:formatCode>General</c:formatCod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numCache>
            </c:numRef>
          </c:cat>
          <c:val>
            <c:numRef>
              <c:f>'Var anual'!$C$4:$G$4</c:f>
              <c:numCache>
                <c:formatCode>0</c:formatCode>
                <c:ptCount val="5"/>
                <c:pt idx="0">
                  <c:v>-147</c:v>
                </c:pt>
                <c:pt idx="1">
                  <c:v>164</c:v>
                </c:pt>
                <c:pt idx="2">
                  <c:v>-88</c:v>
                </c:pt>
                <c:pt idx="3">
                  <c:v>-48</c:v>
                </c:pt>
                <c:pt idx="4">
                  <c:v>-52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8019-4077-BEF1-92F445470E4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67038032"/>
        <c:axId val="867039472"/>
      </c:lineChart>
      <c:catAx>
        <c:axId val="86703803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ysClr val="windowText" lastClr="000000"/>
                </a:solidFill>
                <a:latin typeface="Dosis" pitchFamily="2" charset="0"/>
                <a:ea typeface="+mn-ea"/>
                <a:cs typeface="+mn-cs"/>
              </a:defRPr>
            </a:pPr>
            <a:endParaRPr lang="es-CO"/>
          </a:p>
        </c:txPr>
        <c:crossAx val="867039472"/>
        <c:crosses val="autoZero"/>
        <c:auto val="1"/>
        <c:lblAlgn val="ctr"/>
        <c:lblOffset val="100"/>
        <c:noMultiLvlLbl val="0"/>
      </c:catAx>
      <c:valAx>
        <c:axId val="8670394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ysClr val="windowText" lastClr="000000"/>
                    </a:solidFill>
                    <a:latin typeface="Dosis" pitchFamily="2" charset="0"/>
                    <a:ea typeface="+mn-ea"/>
                    <a:cs typeface="+mn-cs"/>
                  </a:defRPr>
                </a:pPr>
                <a:r>
                  <a:rPr lang="es-CO"/>
                  <a:t>Variación</a:t>
                </a:r>
                <a:r>
                  <a:rPr lang="es-CO" baseline="0"/>
                  <a:t> hogares</a:t>
                </a:r>
                <a:endParaRPr lang="es-CO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200" b="0" i="0" u="none" strike="noStrike" kern="1200" baseline="0">
                  <a:solidFill>
                    <a:sysClr val="windowText" lastClr="000000"/>
                  </a:solidFill>
                  <a:latin typeface="Dosis" pitchFamily="2" charset="0"/>
                  <a:ea typeface="+mn-ea"/>
                  <a:cs typeface="+mn-cs"/>
                </a:defRPr>
              </a:pPr>
              <a:endParaRPr lang="es-CO"/>
            </a:p>
          </c:txPr>
        </c:title>
        <c:numFmt formatCode="#,##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ysClr val="windowText" lastClr="000000"/>
                </a:solidFill>
                <a:latin typeface="Dosis" pitchFamily="2" charset="0"/>
                <a:ea typeface="+mn-ea"/>
                <a:cs typeface="+mn-cs"/>
              </a:defRPr>
            </a:pPr>
            <a:endParaRPr lang="es-CO"/>
          </a:p>
        </c:txPr>
        <c:crossAx val="867038032"/>
        <c:crosses val="autoZero"/>
        <c:crossBetween val="between"/>
        <c:majorUnit val="100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5.9589676290463689E-2"/>
          <c:y val="8.0730533683288971E-3"/>
          <c:w val="0.88082042869641286"/>
          <c:h val="7.988990959463400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ysClr val="windowText" lastClr="000000"/>
              </a:solidFill>
              <a:latin typeface="Dosis" pitchFamily="2" charset="0"/>
              <a:ea typeface="+mn-ea"/>
              <a:cs typeface="+mn-cs"/>
            </a:defRPr>
          </a:pPr>
          <a:endParaRPr lang="es-CO"/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sz="1200">
          <a:solidFill>
            <a:sysClr val="windowText" lastClr="000000"/>
          </a:solidFill>
          <a:latin typeface="Dosis" pitchFamily="2" charset="0"/>
        </a:defRPr>
      </a:pPr>
      <a:endParaRPr lang="es-CO"/>
    </a:p>
  </c:txPr>
  <c:externalData r:id="rId4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6.8708223972003504E-2"/>
          <c:y val="0.14814814814814814"/>
          <c:w val="0.90073622047244095"/>
          <c:h val="0.76374999999999993"/>
        </c:manualLayout>
      </c:layout>
      <c:lineChart>
        <c:grouping val="standard"/>
        <c:varyColors val="0"/>
        <c:ser>
          <c:idx val="0"/>
          <c:order val="0"/>
          <c:tx>
            <c:strRef>
              <c:f>'[Gráfico en Microsoft PowerPoint]Hoja3'!$A$10</c:f>
              <c:strCache>
                <c:ptCount val="1"/>
                <c:pt idx="0">
                  <c:v>Total nacional</c:v>
                </c:pt>
              </c:strCache>
            </c:strRef>
          </c:tx>
          <c:spPr>
            <a:ln w="28575" cap="rnd">
              <a:solidFill>
                <a:srgbClr val="00206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rgbClr val="002060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rgbClr val="001D57"/>
                    </a:solidFill>
                    <a:latin typeface="Dosis" pitchFamily="2" charset="0"/>
                    <a:ea typeface="+mn-ea"/>
                    <a:cs typeface="+mn-cs"/>
                  </a:defRPr>
                </a:pPr>
                <a:endParaRPr lang="es-CO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'[Gráfico en Microsoft PowerPoint]Hoja3'!$B$9:$G$9</c:f>
              <c:numCache>
                <c:formatCode>General</c:formatCode>
                <c:ptCount val="6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</c:numCache>
            </c:numRef>
          </c:cat>
          <c:val>
            <c:numRef>
              <c:f>'[Gráfico en Microsoft PowerPoint]Hoja3'!$B$16:$G$16</c:f>
              <c:numCache>
                <c:formatCode>#,##0.0</c:formatCode>
                <c:ptCount val="6"/>
                <c:pt idx="0">
                  <c:v>8.1811290299999992</c:v>
                </c:pt>
                <c:pt idx="1">
                  <c:v>8.0157647599999997</c:v>
                </c:pt>
                <c:pt idx="2">
                  <c:v>7.4676369200000003</c:v>
                </c:pt>
                <c:pt idx="3">
                  <c:v>7.2994753299999999</c:v>
                </c:pt>
                <c:pt idx="4">
                  <c:v>6.7700030479000004</c:v>
                </c:pt>
                <c:pt idx="5">
                  <c:v>6.8158005585000003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2F65-4210-ABF7-1D354E98D900}"/>
            </c:ext>
          </c:extLst>
        </c:ser>
        <c:ser>
          <c:idx val="1"/>
          <c:order val="1"/>
          <c:tx>
            <c:strRef>
              <c:f>'[Gráfico en Microsoft PowerPoint]Hoja3'!$A$11</c:f>
              <c:strCache>
                <c:ptCount val="1"/>
                <c:pt idx="0">
                  <c:v>Cabecera</c:v>
                </c:pt>
              </c:strCache>
            </c:strRef>
          </c:tx>
          <c:spPr>
            <a:ln w="28575" cap="rnd">
              <a:solidFill>
                <a:srgbClr val="00B0F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00B0F0"/>
              </a:solidFill>
              <a:ln w="9525">
                <a:solidFill>
                  <a:srgbClr val="00B0F0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rgbClr val="00B0F0"/>
                    </a:solidFill>
                    <a:latin typeface="Dosis" pitchFamily="2" charset="0"/>
                    <a:ea typeface="+mn-ea"/>
                    <a:cs typeface="+mn-cs"/>
                  </a:defRPr>
                </a:pPr>
                <a:endParaRPr lang="es-CO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'[Gráfico en Microsoft PowerPoint]Hoja3'!$B$9:$G$9</c:f>
              <c:numCache>
                <c:formatCode>General</c:formatCode>
                <c:ptCount val="6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</c:numCache>
            </c:numRef>
          </c:cat>
          <c:val>
            <c:numRef>
              <c:f>'[Gráfico en Microsoft PowerPoint]Hoja3'!$B$17:$G$17</c:f>
              <c:numCache>
                <c:formatCode>#,##0.0</c:formatCode>
                <c:ptCount val="6"/>
                <c:pt idx="0">
                  <c:v>4.0637180400000004</c:v>
                </c:pt>
                <c:pt idx="1">
                  <c:v>4.1997597799999999</c:v>
                </c:pt>
                <c:pt idx="2">
                  <c:v>3.6891200199999998</c:v>
                </c:pt>
                <c:pt idx="3">
                  <c:v>3.3748138600000002</c:v>
                </c:pt>
                <c:pt idx="4">
                  <c:v>3.0878986421999999</c:v>
                </c:pt>
                <c:pt idx="5">
                  <c:v>2.8041194797000002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2F65-4210-ABF7-1D354E98D900}"/>
            </c:ext>
          </c:extLst>
        </c:ser>
        <c:ser>
          <c:idx val="2"/>
          <c:order val="2"/>
          <c:tx>
            <c:strRef>
              <c:f>'[Gráfico en Microsoft PowerPoint]Hoja3'!$A$12</c:f>
              <c:strCache>
                <c:ptCount val="1"/>
                <c:pt idx="0">
                  <c:v>Centros poblados y rural disperso</c:v>
                </c:pt>
              </c:strCache>
            </c:strRef>
          </c:tx>
          <c:spPr>
            <a:ln w="28575" cap="rnd">
              <a:solidFill>
                <a:srgbClr val="00B05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rgbClr val="00B050"/>
                </a:solidFill>
              </a:ln>
              <a:effectLst/>
            </c:spPr>
          </c:marker>
          <c:dLbls>
            <c:numFmt formatCode="#,##0.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rgbClr val="00B050"/>
                    </a:solidFill>
                    <a:latin typeface="Dosis" pitchFamily="2" charset="0"/>
                    <a:ea typeface="+mn-ea"/>
                    <a:cs typeface="+mn-cs"/>
                  </a:defRPr>
                </a:pPr>
                <a:endParaRPr lang="es-CO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'[Gráfico en Microsoft PowerPoint]Hoja3'!$B$9:$G$9</c:f>
              <c:numCache>
                <c:formatCode>General</c:formatCode>
                <c:ptCount val="6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</c:numCache>
            </c:numRef>
          </c:cat>
          <c:val>
            <c:numRef>
              <c:f>'[Gráfico en Microsoft PowerPoint]Hoja3'!$B$18:$G$18</c:f>
              <c:numCache>
                <c:formatCode>#,##0.0</c:formatCode>
                <c:ptCount val="6"/>
                <c:pt idx="0">
                  <c:v>21.951280499999999</c:v>
                </c:pt>
                <c:pt idx="1">
                  <c:v>20.927850400000001</c:v>
                </c:pt>
                <c:pt idx="2">
                  <c:v>20.716373600000001</c:v>
                </c:pt>
                <c:pt idx="3">
                  <c:v>21.210843199999999</c:v>
                </c:pt>
                <c:pt idx="4">
                  <c:v>19.9239082295</c:v>
                </c:pt>
                <c:pt idx="5">
                  <c:v>21.245500385500002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2F65-4210-ABF7-1D354E98D90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67038032"/>
        <c:axId val="867039472"/>
      </c:lineChart>
      <c:catAx>
        <c:axId val="86703803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ysClr val="windowText" lastClr="000000"/>
                </a:solidFill>
                <a:latin typeface="Dosis" pitchFamily="2" charset="0"/>
                <a:ea typeface="+mn-ea"/>
                <a:cs typeface="+mn-cs"/>
              </a:defRPr>
            </a:pPr>
            <a:endParaRPr lang="es-CO"/>
          </a:p>
        </c:txPr>
        <c:crossAx val="867039472"/>
        <c:crosses val="autoZero"/>
        <c:auto val="1"/>
        <c:lblAlgn val="ctr"/>
        <c:lblOffset val="100"/>
        <c:noMultiLvlLbl val="0"/>
      </c:catAx>
      <c:valAx>
        <c:axId val="8670394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ysClr val="windowText" lastClr="000000"/>
                    </a:solidFill>
                    <a:latin typeface="Dosis" pitchFamily="2" charset="0"/>
                    <a:ea typeface="+mn-ea"/>
                    <a:cs typeface="+mn-cs"/>
                  </a:defRPr>
                </a:pPr>
                <a:r>
                  <a:rPr lang="es-CO" sz="1200"/>
                  <a:t>Porcentaje de hogares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ysClr val="windowText" lastClr="000000"/>
                  </a:solidFill>
                  <a:latin typeface="Dosis" pitchFamily="2" charset="0"/>
                  <a:ea typeface="+mn-ea"/>
                  <a:cs typeface="+mn-cs"/>
                </a:defRPr>
              </a:pPr>
              <a:endParaRPr lang="es-CO"/>
            </a:p>
          </c:txPr>
        </c:title>
        <c:numFmt formatCode="#,##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ysClr val="windowText" lastClr="000000"/>
                </a:solidFill>
                <a:latin typeface="Dosis" pitchFamily="2" charset="0"/>
                <a:ea typeface="+mn-ea"/>
                <a:cs typeface="+mn-cs"/>
              </a:defRPr>
            </a:pPr>
            <a:endParaRPr lang="es-CO"/>
          </a:p>
        </c:txPr>
        <c:crossAx val="86703803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5.9589676290463689E-2"/>
          <c:y val="8.0730533683288971E-3"/>
          <c:w val="0.88082042869641286"/>
          <c:h val="7.988990959463400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ysClr val="windowText" lastClr="000000"/>
              </a:solidFill>
              <a:latin typeface="Dosis" pitchFamily="2" charset="0"/>
              <a:ea typeface="+mn-ea"/>
              <a:cs typeface="+mn-cs"/>
            </a:defRPr>
          </a:pPr>
          <a:endParaRPr lang="es-CO"/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>
          <a:solidFill>
            <a:sysClr val="windowText" lastClr="000000"/>
          </a:solidFill>
          <a:latin typeface="Dosis" pitchFamily="2" charset="0"/>
        </a:defRPr>
      </a:pPr>
      <a:endParaRPr lang="es-CO"/>
    </a:p>
  </c:txPr>
  <c:externalData r:id="rId4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6.8708223972003504E-2"/>
          <c:y val="0.14814814814814814"/>
          <c:w val="0.90073622047244095"/>
          <c:h val="0.76374999999999993"/>
        </c:manualLayout>
      </c:layout>
      <c:lineChart>
        <c:grouping val="standard"/>
        <c:varyColors val="0"/>
        <c:ser>
          <c:idx val="0"/>
          <c:order val="0"/>
          <c:tx>
            <c:strRef>
              <c:f>Hoja3!$A$10</c:f>
              <c:strCache>
                <c:ptCount val="1"/>
                <c:pt idx="0">
                  <c:v>Total nacional</c:v>
                </c:pt>
              </c:strCache>
            </c:strRef>
          </c:tx>
          <c:spPr>
            <a:ln w="28575" cap="rnd">
              <a:solidFill>
                <a:srgbClr val="00206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rgbClr val="002060"/>
                </a:solidFill>
              </a:ln>
              <a:effectLst/>
            </c:spPr>
          </c:marker>
          <c:dLbls>
            <c:dLbl>
              <c:idx val="0"/>
              <c:layout>
                <c:manualLayout>
                  <c:x val="4.7531141373349369E-3"/>
                  <c:y val="1.2561062707370134E-3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0D8-4905-A2D8-48762E1EFEC4}"/>
                </c:ext>
              </c:extLst>
            </c:dLbl>
            <c:dLbl>
              <c:idx val="1"/>
              <c:layout>
                <c:manualLayout>
                  <c:x val="1.3943469185354584E-2"/>
                  <c:y val="3.4547331089928961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1728-4D64-B0F6-EECD2345ECC5}"/>
                </c:ext>
              </c:extLst>
            </c:dLbl>
            <c:dLbl>
              <c:idx val="2"/>
              <c:layout>
                <c:manualLayout>
                  <c:x val="1.3943469185354626E-2"/>
                  <c:y val="-1.9929218614203319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CC4E-4D3A-ABF7-D81BDA3E834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rgbClr val="002060"/>
                    </a:solidFill>
                    <a:latin typeface="Dosis" pitchFamily="2" charset="0"/>
                    <a:ea typeface="+mn-ea"/>
                    <a:cs typeface="+mn-cs"/>
                  </a:defRPr>
                </a:pPr>
                <a:endParaRPr lang="es-CO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Hoja3!$B$9:$G$9</c:f>
              <c:numCache>
                <c:formatCode>General</c:formatCod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numCache>
              <c:extLst/>
            </c:numRef>
          </c:cat>
          <c:val>
            <c:numRef>
              <c:f>Hoja3!$B$10:$G$10</c:f>
              <c:numCache>
                <c:formatCode>#,##0.0</c:formatCode>
                <c:ptCount val="5"/>
                <c:pt idx="0">
                  <c:v>-0.16536426999999954</c:v>
                </c:pt>
                <c:pt idx="1">
                  <c:v>-0.54812783999999937</c:v>
                </c:pt>
                <c:pt idx="2">
                  <c:v>-0.16816159000000042</c:v>
                </c:pt>
                <c:pt idx="3">
                  <c:v>-0.52947228209999952</c:v>
                </c:pt>
                <c:pt idx="4" formatCode="#,##0.00">
                  <c:v>4.5797510599999924E-2</c:v>
                </c:pt>
              </c:numCache>
              <c:extLst/>
            </c:numRef>
          </c:val>
          <c:smooth val="1"/>
          <c:extLst>
            <c:ext xmlns:c16="http://schemas.microsoft.com/office/drawing/2014/chart" uri="{C3380CC4-5D6E-409C-BE32-E72D297353CC}">
              <c16:uniqueId val="{00000000-3AC8-414B-8576-88B33D33D1E7}"/>
            </c:ext>
          </c:extLst>
        </c:ser>
        <c:ser>
          <c:idx val="1"/>
          <c:order val="1"/>
          <c:tx>
            <c:strRef>
              <c:f>Hoja3!$A$11</c:f>
              <c:strCache>
                <c:ptCount val="1"/>
                <c:pt idx="0">
                  <c:v>Cabecera</c:v>
                </c:pt>
              </c:strCache>
            </c:strRef>
          </c:tx>
          <c:spPr>
            <a:ln w="28575" cap="rnd">
              <a:solidFill>
                <a:srgbClr val="00B0F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rgbClr val="00B0F0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rgbClr val="00B0F0"/>
                    </a:solidFill>
                    <a:latin typeface="Dosis" pitchFamily="2" charset="0"/>
                    <a:ea typeface="+mn-ea"/>
                    <a:cs typeface="+mn-cs"/>
                  </a:defRPr>
                </a:pPr>
                <a:endParaRPr lang="es-CO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Hoja3!$B$9:$G$9</c:f>
              <c:numCache>
                <c:formatCode>General</c:formatCod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numCache>
              <c:extLst/>
            </c:numRef>
          </c:cat>
          <c:val>
            <c:numRef>
              <c:f>Hoja3!$B$11:$G$11</c:f>
              <c:numCache>
                <c:formatCode>#,##0.0</c:formatCode>
                <c:ptCount val="5"/>
                <c:pt idx="0">
                  <c:v>0.13604173999999958</c:v>
                </c:pt>
                <c:pt idx="1">
                  <c:v>-0.51063976000000011</c:v>
                </c:pt>
                <c:pt idx="2">
                  <c:v>-0.31430615999999967</c:v>
                </c:pt>
                <c:pt idx="3">
                  <c:v>-0.28691521780000029</c:v>
                </c:pt>
                <c:pt idx="4">
                  <c:v>-0.28377916249999968</c:v>
                </c:pt>
              </c:numCache>
              <c:extLst/>
            </c:numRef>
          </c:val>
          <c:smooth val="1"/>
          <c:extLst>
            <c:ext xmlns:c16="http://schemas.microsoft.com/office/drawing/2014/chart" uri="{C3380CC4-5D6E-409C-BE32-E72D297353CC}">
              <c16:uniqueId val="{00000001-3AC8-414B-8576-88B33D33D1E7}"/>
            </c:ext>
          </c:extLst>
        </c:ser>
        <c:ser>
          <c:idx val="2"/>
          <c:order val="2"/>
          <c:tx>
            <c:strRef>
              <c:f>Hoja3!$A$12</c:f>
              <c:strCache>
                <c:ptCount val="1"/>
                <c:pt idx="0">
                  <c:v>Centros poblados y rural disperso</c:v>
                </c:pt>
              </c:strCache>
            </c:strRef>
          </c:tx>
          <c:spPr>
            <a:ln w="28575" cap="rnd">
              <a:solidFill>
                <a:srgbClr val="00B05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rgbClr val="00B050"/>
                </a:solidFill>
              </a:ln>
              <a:effectLst/>
            </c:spPr>
          </c:marker>
          <c:dLbls>
            <c:dLbl>
              <c:idx val="0"/>
              <c:layout>
                <c:manualLayout>
                  <c:x val="-2.8989871432722164E-2"/>
                  <c:y val="-6.8352818351209793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50D8-4905-A2D8-48762E1EFEC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rgbClr val="00B050"/>
                    </a:solidFill>
                    <a:latin typeface="Dosis" pitchFamily="2" charset="0"/>
                    <a:ea typeface="+mn-ea"/>
                    <a:cs typeface="+mn-cs"/>
                  </a:defRPr>
                </a:pPr>
                <a:endParaRPr lang="es-CO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Hoja3!$B$9:$G$9</c:f>
              <c:numCache>
                <c:formatCode>General</c:formatCod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numCache>
              <c:extLst/>
            </c:numRef>
          </c:cat>
          <c:val>
            <c:numRef>
              <c:f>Hoja3!$B$12:$G$12</c:f>
              <c:numCache>
                <c:formatCode>#,##0.0</c:formatCode>
                <c:ptCount val="5"/>
                <c:pt idx="0">
                  <c:v>-1.0234300999999988</c:v>
                </c:pt>
                <c:pt idx="1">
                  <c:v>-0.2114767999999998</c:v>
                </c:pt>
                <c:pt idx="2">
                  <c:v>0.49446959999999862</c:v>
                </c:pt>
                <c:pt idx="3">
                  <c:v>-1.2869349704999991</c:v>
                </c:pt>
                <c:pt idx="4">
                  <c:v>1.3215921560000012</c:v>
                </c:pt>
              </c:numCache>
              <c:extLst/>
            </c:numRef>
          </c:val>
          <c:smooth val="1"/>
          <c:extLst>
            <c:ext xmlns:c16="http://schemas.microsoft.com/office/drawing/2014/chart" uri="{C3380CC4-5D6E-409C-BE32-E72D297353CC}">
              <c16:uniqueId val="{00000002-3AC8-414B-8576-88B33D33D1E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67038032"/>
        <c:axId val="867039472"/>
      </c:lineChart>
      <c:catAx>
        <c:axId val="86703803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ysClr val="windowText" lastClr="000000"/>
                </a:solidFill>
                <a:latin typeface="Dosis" pitchFamily="2" charset="0"/>
                <a:ea typeface="+mn-ea"/>
                <a:cs typeface="+mn-cs"/>
              </a:defRPr>
            </a:pPr>
            <a:endParaRPr lang="es-CO"/>
          </a:p>
        </c:txPr>
        <c:crossAx val="867039472"/>
        <c:crosses val="autoZero"/>
        <c:auto val="1"/>
        <c:lblAlgn val="ctr"/>
        <c:lblOffset val="100"/>
        <c:noMultiLvlLbl val="0"/>
      </c:catAx>
      <c:valAx>
        <c:axId val="8670394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ysClr val="windowText" lastClr="000000"/>
                    </a:solidFill>
                    <a:latin typeface="Dosis" pitchFamily="2" charset="0"/>
                    <a:ea typeface="+mn-ea"/>
                    <a:cs typeface="+mn-cs"/>
                  </a:defRPr>
                </a:pPr>
                <a:r>
                  <a:rPr lang="es-CO"/>
                  <a:t>Variación</a:t>
                </a:r>
                <a:r>
                  <a:rPr lang="es-CO" baseline="0"/>
                  <a:t> anual</a:t>
                </a:r>
                <a:endParaRPr lang="es-CO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200" b="0" i="0" u="none" strike="noStrike" kern="1200" baseline="0">
                  <a:solidFill>
                    <a:sysClr val="windowText" lastClr="000000"/>
                  </a:solidFill>
                  <a:latin typeface="Dosis" pitchFamily="2" charset="0"/>
                  <a:ea typeface="+mn-ea"/>
                  <a:cs typeface="+mn-cs"/>
                </a:defRPr>
              </a:pPr>
              <a:endParaRPr lang="es-CO"/>
            </a:p>
          </c:txPr>
        </c:title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ysClr val="windowText" lastClr="000000"/>
                </a:solidFill>
                <a:latin typeface="Dosis" pitchFamily="2" charset="0"/>
                <a:ea typeface="+mn-ea"/>
                <a:cs typeface="+mn-cs"/>
              </a:defRPr>
            </a:pPr>
            <a:endParaRPr lang="es-CO"/>
          </a:p>
        </c:txPr>
        <c:crossAx val="86703803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5.9589676290463689E-2"/>
          <c:y val="8.0730533683288971E-3"/>
          <c:w val="0.88082042869641286"/>
          <c:h val="7.988990959463400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ysClr val="windowText" lastClr="000000"/>
              </a:solidFill>
              <a:latin typeface="Dosis" pitchFamily="2" charset="0"/>
              <a:ea typeface="+mn-ea"/>
              <a:cs typeface="+mn-cs"/>
            </a:defRPr>
          </a:pPr>
          <a:endParaRPr lang="es-CO"/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sz="1200">
          <a:solidFill>
            <a:sysClr val="windowText" lastClr="000000"/>
          </a:solidFill>
          <a:latin typeface="Dosis" pitchFamily="2" charset="0"/>
        </a:defRPr>
      </a:pPr>
      <a:endParaRPr lang="es-CO"/>
    </a:p>
  </c:txPr>
  <c:externalData r:id="rId4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6.8708223972003504E-2"/>
          <c:y val="9.9524848500135585E-2"/>
          <c:w val="0.90073622047244095"/>
          <c:h val="0.81809363759124454"/>
        </c:manualLayout>
      </c:layout>
      <c:lineChart>
        <c:grouping val="standard"/>
        <c:varyColors val="0"/>
        <c:ser>
          <c:idx val="0"/>
          <c:order val="0"/>
          <c:tx>
            <c:strRef>
              <c:f>Hoja3!$A$22</c:f>
              <c:strCache>
                <c:ptCount val="1"/>
                <c:pt idx="0">
                  <c:v>Total nacional</c:v>
                </c:pt>
              </c:strCache>
            </c:strRef>
          </c:tx>
          <c:spPr>
            <a:ln w="28575" cap="rnd">
              <a:solidFill>
                <a:srgbClr val="00206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rgbClr val="002060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rgbClr val="001D57"/>
                    </a:solidFill>
                    <a:latin typeface="Dosis" pitchFamily="2" charset="0"/>
                    <a:ea typeface="+mn-ea"/>
                    <a:cs typeface="+mn-cs"/>
                  </a:defRPr>
                </a:pPr>
                <a:endParaRPr lang="es-CO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Hoja3!$C$9:$G$9</c:f>
              <c:numCache>
                <c:formatCode>General</c:formatCod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numCache>
            </c:numRef>
          </c:cat>
          <c:val>
            <c:numRef>
              <c:f>Hoja3!$C$22:$G$22</c:f>
              <c:numCache>
                <c:formatCode>#,##0.0</c:formatCode>
                <c:ptCount val="5"/>
                <c:pt idx="0">
                  <c:v>4</c:v>
                </c:pt>
                <c:pt idx="1">
                  <c:v>-40</c:v>
                </c:pt>
                <c:pt idx="2">
                  <c:v>5.1099999999999</c:v>
                </c:pt>
                <c:pt idx="3">
                  <c:v>-60.1099999999999</c:v>
                </c:pt>
                <c:pt idx="4">
                  <c:v>41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98C3-41C7-9E22-C3F2D45D510E}"/>
            </c:ext>
          </c:extLst>
        </c:ser>
        <c:ser>
          <c:idx val="1"/>
          <c:order val="1"/>
          <c:tx>
            <c:strRef>
              <c:f>Hoja3!$A$11</c:f>
              <c:strCache>
                <c:ptCount val="1"/>
                <c:pt idx="0">
                  <c:v>Cabecera</c:v>
                </c:pt>
              </c:strCache>
            </c:strRef>
          </c:tx>
          <c:spPr>
            <a:ln w="28575" cap="rnd">
              <a:solidFill>
                <a:srgbClr val="00B0F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rgbClr val="00B0F0"/>
                </a:solidFill>
              </a:ln>
              <a:effectLst/>
            </c:spPr>
          </c:marker>
          <c:dLbls>
            <c:dLbl>
              <c:idx val="1"/>
              <c:layout>
                <c:manualLayout>
                  <c:x val="1.1147012741991555E-2"/>
                  <c:y val="6.381078799748123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76C-411A-A9EE-0534B0390D4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rgbClr val="51C9F5"/>
                    </a:solidFill>
                    <a:latin typeface="Dosis" pitchFamily="2" charset="0"/>
                    <a:ea typeface="+mn-ea"/>
                    <a:cs typeface="+mn-cs"/>
                  </a:defRPr>
                </a:pPr>
                <a:endParaRPr lang="es-CO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Hoja3!$C$9:$G$9</c:f>
              <c:numCache>
                <c:formatCode>General</c:formatCod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numCache>
            </c:numRef>
          </c:cat>
          <c:val>
            <c:numRef>
              <c:f>Hoja3!$C$23:$G$23</c:f>
              <c:numCache>
                <c:formatCode>#,##0.0</c:formatCode>
                <c:ptCount val="5"/>
                <c:pt idx="0">
                  <c:v>30</c:v>
                </c:pt>
                <c:pt idx="1">
                  <c:v>-42</c:v>
                </c:pt>
                <c:pt idx="2">
                  <c:v>-27.70999999999998</c:v>
                </c:pt>
                <c:pt idx="3">
                  <c:v>-26.29000000000002</c:v>
                </c:pt>
                <c:pt idx="4">
                  <c:v>-29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98C3-41C7-9E22-C3F2D45D510E}"/>
            </c:ext>
          </c:extLst>
        </c:ser>
        <c:ser>
          <c:idx val="2"/>
          <c:order val="2"/>
          <c:tx>
            <c:strRef>
              <c:f>Hoja3!$A$12</c:f>
              <c:strCache>
                <c:ptCount val="1"/>
                <c:pt idx="0">
                  <c:v>Centros poblados y rural disperso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dPt>
            <c:idx val="4"/>
            <c:marker>
              <c:symbol val="circle"/>
              <c:size val="5"/>
              <c:spPr>
                <a:solidFill>
                  <a:schemeClr val="accent3"/>
                </a:solidFill>
                <a:ln w="9525">
                  <a:solidFill>
                    <a:schemeClr val="accent3"/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rgbClr val="00B050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DC81-4F78-A0DA-AF158599BA76}"/>
              </c:ext>
            </c:extLst>
          </c:dPt>
          <c:dPt>
            <c:idx val="5"/>
            <c:marker>
              <c:symbol val="circle"/>
              <c:size val="5"/>
              <c:spPr>
                <a:solidFill>
                  <a:schemeClr val="accent3"/>
                </a:solidFill>
                <a:ln w="9525">
                  <a:solidFill>
                    <a:srgbClr val="00B050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26F7-402E-BD9F-A335DA64E374}"/>
              </c:ext>
            </c:extLst>
          </c:dPt>
          <c:dLbls>
            <c:dLbl>
              <c:idx val="3"/>
              <c:layout>
                <c:manualLayout>
                  <c:x val="-1.924566102146081E-2"/>
                  <c:y val="2.6628347658294499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E76C-411A-A9EE-0534B0390D4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accent3"/>
                    </a:solidFill>
                    <a:latin typeface="Dosis" pitchFamily="2" charset="0"/>
                    <a:ea typeface="+mn-ea"/>
                    <a:cs typeface="+mn-cs"/>
                  </a:defRPr>
                </a:pPr>
                <a:endParaRPr lang="es-CO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Hoja3!$C$9:$G$9</c:f>
              <c:numCache>
                <c:formatCode>General</c:formatCod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numCache>
            </c:numRef>
          </c:cat>
          <c:val>
            <c:numRef>
              <c:f>Hoja3!$C$24:$G$24</c:f>
              <c:numCache>
                <c:formatCode>#,##0.0</c:formatCode>
                <c:ptCount val="5"/>
                <c:pt idx="0">
                  <c:v>-26</c:v>
                </c:pt>
                <c:pt idx="1">
                  <c:v>1</c:v>
                </c:pt>
                <c:pt idx="2">
                  <c:v>33.830000000000041</c:v>
                </c:pt>
                <c:pt idx="3">
                  <c:v>-32.830000000000041</c:v>
                </c:pt>
                <c:pt idx="4">
                  <c:v>69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98C3-41C7-9E22-C3F2D45D51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67038032"/>
        <c:axId val="867039472"/>
      </c:lineChart>
      <c:catAx>
        <c:axId val="86703803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ysClr val="windowText" lastClr="000000"/>
                </a:solidFill>
                <a:latin typeface="Dosis" pitchFamily="2" charset="0"/>
                <a:ea typeface="+mn-ea"/>
                <a:cs typeface="+mn-cs"/>
              </a:defRPr>
            </a:pPr>
            <a:endParaRPr lang="es-CO"/>
          </a:p>
        </c:txPr>
        <c:crossAx val="867039472"/>
        <c:crosses val="autoZero"/>
        <c:auto val="1"/>
        <c:lblAlgn val="ctr"/>
        <c:lblOffset val="100"/>
        <c:noMultiLvlLbl val="0"/>
      </c:catAx>
      <c:valAx>
        <c:axId val="8670394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ysClr val="windowText" lastClr="000000"/>
                </a:solidFill>
                <a:latin typeface="Dosis" pitchFamily="2" charset="0"/>
                <a:ea typeface="+mn-ea"/>
                <a:cs typeface="+mn-cs"/>
              </a:defRPr>
            </a:pPr>
            <a:endParaRPr lang="es-CO"/>
          </a:p>
        </c:txPr>
        <c:crossAx val="867038032"/>
        <c:crosses val="autoZero"/>
        <c:crossBetween val="between"/>
        <c:majorUnit val="50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5.9589676290463689E-2"/>
          <c:y val="8.0730533683288971E-3"/>
          <c:w val="0.8962406338072566"/>
          <c:h val="0.11707243796996039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ysClr val="windowText" lastClr="000000"/>
              </a:solidFill>
              <a:latin typeface="Dosis" pitchFamily="2" charset="0"/>
              <a:ea typeface="+mn-ea"/>
              <a:cs typeface="+mn-cs"/>
            </a:defRPr>
          </a:pPr>
          <a:endParaRPr lang="es-CO"/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>
          <a:solidFill>
            <a:sysClr val="windowText" lastClr="000000"/>
          </a:solidFill>
          <a:latin typeface="Dosis" pitchFamily="2" charset="0"/>
        </a:defRPr>
      </a:pPr>
      <a:endParaRPr lang="es-CO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185AF2-A6E3-4CF7-A4F2-F3BEFBED9D84}" type="datetimeFigureOut">
              <a:rPr lang="es-CO" smtClean="0"/>
              <a:t>6/05/2025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62145C-8139-4C55-9355-2F5E2467522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830462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C500FF-8590-A4A9-8630-5628A7A8C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0A8E437-3197-BC8A-3F7C-F755C19F95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804B8012-DB32-39DB-CEDA-F45CEBF848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9766C8A-EBC0-A46C-8CDE-AB599E233D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62145C-8139-4C55-9355-2F5E24675220}" type="slidenum">
              <a:rPr lang="es-CO" smtClean="0"/>
              <a:t>7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687977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62145C-8139-4C55-9355-2F5E24675220}" type="slidenum">
              <a:rPr lang="es-CO" smtClean="0"/>
              <a:t>8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980686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35456C-960F-31DE-550C-11BCD0BE91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13184A4E-6CAE-29B9-84C9-0C1EFBDBE8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7DA049EA-3A42-CFFE-0F32-97789E3C78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90CDC52-20FF-CC01-9561-264B4E4D0F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62145C-8139-4C55-9355-2F5E24675220}" type="slidenum">
              <a:rPr lang="es-CO" smtClean="0"/>
              <a:t>9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389862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66A8AF-D822-BA95-82C5-F857A8210F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C9C9A63-A29A-077D-1586-E86DA64E11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2C1FEED-9FD1-CAE5-8D3D-9AFEBB77C7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C9D2F-2D4C-402E-8A1C-214DBA30FC92}" type="datetimeFigureOut">
              <a:rPr lang="es-CO" smtClean="0"/>
              <a:t>6/05/2025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FDC5B5F-DADF-3957-D101-FB53FCA541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970E04-05D2-C536-9041-38972C3398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B3DAF-786E-4D47-B600-D6104A2DF12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346527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79DD15-C9B8-0006-FCC3-FEDC75A00A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578840F-BCF5-30B0-AD56-A011E396F7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01003CE-BFF3-9C11-0D00-04A209CE81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C9D2F-2D4C-402E-8A1C-214DBA30FC92}" type="datetimeFigureOut">
              <a:rPr lang="es-CO" smtClean="0"/>
              <a:t>6/05/2025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E9518CC-4639-F41C-CA3C-31AF9D11C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77B3D41-A67F-8352-2B5B-95FDC0B4E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B3DAF-786E-4D47-B600-D6104A2DF12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29695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1E1B7D-37AB-DC25-45BD-7029D0556C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3144A24-47D7-1BB9-EC4B-5C905CD56F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3A20075-C847-DBD4-4A67-C5D3B52F30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C9D2F-2D4C-402E-8A1C-214DBA30FC92}" type="datetimeFigureOut">
              <a:rPr lang="es-CO" smtClean="0"/>
              <a:t>6/05/2025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2922A5-9D40-23E8-6515-4D923B460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FFC77B4-DC49-82A7-E72C-83835122C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B3DAF-786E-4D47-B600-D6104A2DF12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801291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4FFA90-358A-E7EF-B798-2A6C17761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68443F6-D302-C7B4-2A05-669E72F487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87858C6-7353-C0E0-E1B9-4D77C62316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5F316A6-52E7-74D7-B982-C8CE6C548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C9D2F-2D4C-402E-8A1C-214DBA30FC92}" type="datetimeFigureOut">
              <a:rPr lang="es-CO" smtClean="0"/>
              <a:t>6/05/2025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5EFDE01-24B4-3CA1-30D8-16DC94DA69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9305CDA-97F0-8438-E6E3-28FBCC788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B3DAF-786E-4D47-B600-D6104A2DF12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21903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EFA8E5-4274-F46C-C291-D9D8D02B2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27093A7-9639-BB7F-39CD-A2E6C8CB5E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2C95147-62D5-972D-13D7-DBCE40E450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806D3E9-1D0C-F3DC-04FF-00E8475BFA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F1335820-3B9B-8B06-D168-87F8CF8800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2E138345-5120-B68C-FD95-CC6B86AFA2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C9D2F-2D4C-402E-8A1C-214DBA30FC92}" type="datetimeFigureOut">
              <a:rPr lang="es-CO" smtClean="0"/>
              <a:t>6/05/2025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00F9E54-3BCB-9505-F160-9FBF419DC8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F8FDA11-6B91-FE38-A48C-11721FA71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B3DAF-786E-4D47-B600-D6104A2DF12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112339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2EB878-0AB6-9985-9B44-7DDF57042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64C849E-798D-EB6A-B5ED-CF1090498A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C9D2F-2D4C-402E-8A1C-214DBA30FC92}" type="datetimeFigureOut">
              <a:rPr lang="es-CO" smtClean="0"/>
              <a:t>6/05/2025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B6B4368-CD18-C86B-543A-53DED195F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CC28BD3-C971-1BE4-9354-24504F39C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B3DAF-786E-4D47-B600-D6104A2DF12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843598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C822DA38-A061-C12D-930E-17B0046EA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C9D2F-2D4C-402E-8A1C-214DBA30FC92}" type="datetimeFigureOut">
              <a:rPr lang="es-CO" smtClean="0"/>
              <a:t>6/05/2025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EC6A1974-1FA9-4D2B-593F-92E66C178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4B6382B-A6A5-669F-6A98-22F962E30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B3DAF-786E-4D47-B600-D6104A2DF12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696655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A4B4AA-4903-261C-B5FD-1F04D1DEDF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6C13655-224F-235B-D47D-B79F9EDB7A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522F1E3-C939-2BE6-40D8-089B8EF9AC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54DE16D-5D9F-27A8-5124-80C4C0DAD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C9D2F-2D4C-402E-8A1C-214DBA30FC92}" type="datetimeFigureOut">
              <a:rPr lang="es-CO" smtClean="0"/>
              <a:t>6/05/2025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18B25DC-A465-97A7-7DE1-1B4B5DF5B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1034902-E29B-4D21-211C-2C48F767E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B3DAF-786E-4D47-B600-D6104A2DF12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157628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21ACA9-60C8-3C18-6185-7E1424086A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7202517D-6793-3C7E-7EA1-0BE12504E1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74D2358-2129-9E0B-70E9-80971A6462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3F87225-5F9B-35E4-027F-77BB426E05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C9D2F-2D4C-402E-8A1C-214DBA30FC92}" type="datetimeFigureOut">
              <a:rPr lang="es-CO" smtClean="0"/>
              <a:t>6/05/2025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AB431E1-C0D0-8A96-E6D5-6BA659402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F196787-3377-21D9-94AD-0F30B88F1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B3DAF-786E-4D47-B600-D6104A2DF12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099908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09B518-2433-8B9D-38A0-4F5AD7019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172DE18-2771-AE86-9349-9D0886E43D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68802DB-DB58-4DBB-BC0E-2AC6E641D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C9D2F-2D4C-402E-8A1C-214DBA30FC92}" type="datetimeFigureOut">
              <a:rPr lang="es-CO" smtClean="0"/>
              <a:t>6/05/2025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55F48B8-6E44-421A-1658-C8F005285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6AD52F9-1D77-ECED-8E16-4BC21FBA8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B3DAF-786E-4D47-B600-D6104A2DF12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577689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BCD0386-950D-5A75-763C-B13216E40C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C7D0053-1BFB-6A41-3BA7-46C049D466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2C49745-4021-1A35-4CCF-0E016EBA9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C9D2F-2D4C-402E-8A1C-214DBA30FC92}" type="datetimeFigureOut">
              <a:rPr lang="es-CO" smtClean="0"/>
              <a:t>6/05/2025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D039D20-CC8B-BAE3-BE98-5A9D30DA8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905A0AE-8994-C70D-49E9-488A9580A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B3DAF-786E-4D47-B600-D6104A2DF12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832560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BE63E35-C9E3-0C1A-E8E6-C1B6E54F5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747B301-012F-B5C5-CB49-47B8AAC630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CE98BE3-9D0A-54E4-E1F0-3BE4D9E206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3C9D2F-2D4C-402E-8A1C-214DBA30FC92}" type="datetimeFigureOut">
              <a:rPr lang="es-CO" smtClean="0"/>
              <a:t>6/05/2025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8DC18F0-E150-37FF-84B5-3290BA89AD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12AA181-6283-F8FB-1623-9B5611D225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CB3DAF-786E-4D47-B600-D6104A2DF12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565413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A8CFE3F8-7D93-9EE9-FE47-2EA1EDE00D42}"/>
              </a:ext>
            </a:extLst>
          </p:cNvPr>
          <p:cNvSpPr txBox="1"/>
          <p:nvPr/>
        </p:nvSpPr>
        <p:spPr>
          <a:xfrm>
            <a:off x="515762" y="-1296"/>
            <a:ext cx="11251782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 defTabSz="914446">
              <a:defRPr/>
            </a:pPr>
            <a:r>
              <a:rPr lang="es-ES" sz="2400" b="1">
                <a:solidFill>
                  <a:prstClr val="black"/>
                </a:solidFill>
                <a:latin typeface="Dosis"/>
                <a:cs typeface="Arial"/>
                <a:sym typeface="Arial"/>
              </a:rPr>
              <a:t>Déficit habitacional en Colombia 2019-2024</a:t>
            </a:r>
          </a:p>
          <a:p>
            <a:pPr algn="ctr" defTabSz="914446">
              <a:defRPr/>
            </a:pPr>
            <a:r>
              <a:rPr lang="es-ES" sz="1600">
                <a:solidFill>
                  <a:prstClr val="black"/>
                </a:solidFill>
                <a:latin typeface="Dosis"/>
                <a:cs typeface="Arial"/>
                <a:sym typeface="Arial"/>
              </a:rPr>
              <a:t>Porcentaje de hogares</a:t>
            </a:r>
            <a:endParaRPr lang="es-ES" sz="1600">
              <a:solidFill>
                <a:prstClr val="black"/>
              </a:solidFill>
              <a:latin typeface="Dosis"/>
              <a:cs typeface="Arial"/>
            </a:endParaRPr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DBA7F49A-0F4C-C6B1-4ECD-0356CEBF8A92}"/>
              </a:ext>
            </a:extLst>
          </p:cNvPr>
          <p:cNvSpPr txBox="1"/>
          <p:nvPr/>
        </p:nvSpPr>
        <p:spPr>
          <a:xfrm>
            <a:off x="784395" y="5538888"/>
            <a:ext cx="10706725" cy="73866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2100">
                <a:solidFill>
                  <a:prstClr val="black"/>
                </a:solidFill>
                <a:latin typeface="Dosis" pitchFamily="2" charset="0"/>
              </a:rPr>
              <a:t>Los resultados de la ECV para 2024 muestran que el porcentaje de hogares que habitaban en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2100">
                <a:solidFill>
                  <a:prstClr val="black"/>
                </a:solidFill>
                <a:latin typeface="Dosis" pitchFamily="2" charset="0"/>
              </a:rPr>
              <a:t>viviendas con déficit habitacional fue del 26,8%</a:t>
            </a:r>
            <a:endParaRPr kumimoji="0" lang="es-CO" sz="210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osis" pitchFamily="2" charset="0"/>
              <a:ea typeface="+mn-ea"/>
              <a:cs typeface="+mn-cs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7BE4B800-899E-5238-2DDA-54B69F089106}"/>
              </a:ext>
            </a:extLst>
          </p:cNvPr>
          <p:cNvSpPr txBox="1"/>
          <p:nvPr/>
        </p:nvSpPr>
        <p:spPr>
          <a:xfrm>
            <a:off x="150578" y="6323019"/>
            <a:ext cx="96139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osis" pitchFamily="2" charset="0"/>
                <a:ea typeface="+mn-ea"/>
                <a:cs typeface="+mn-cs"/>
              </a:rPr>
              <a:t>Fuente: DANE– Cálculos Camacol</a:t>
            </a:r>
          </a:p>
          <a:p>
            <a:pPr lvl="0">
              <a:defRPr/>
            </a:pPr>
            <a:r>
              <a:rPr kumimoji="0" lang="es-MX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osis" pitchFamily="2" charset="0"/>
                <a:ea typeface="+mn-ea"/>
                <a:cs typeface="+mn-cs"/>
              </a:rPr>
              <a:t>Nota: Déficit habitacional NO incluye viviendas tradicionales indígenas.</a:t>
            </a:r>
            <a:endParaRPr kumimoji="0" lang="es-CO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osis" pitchFamily="2" charset="0"/>
              <a:ea typeface="+mn-ea"/>
              <a:cs typeface="+mn-cs"/>
            </a:endParaRPr>
          </a:p>
        </p:txBody>
      </p:sp>
      <p:sp>
        <p:nvSpPr>
          <p:cNvPr id="3" name="Google Shape;189;p5">
            <a:extLst>
              <a:ext uri="{FF2B5EF4-FFF2-40B4-BE49-F238E27FC236}">
                <a16:creationId xmlns:a16="http://schemas.microsoft.com/office/drawing/2014/main" id="{7066789B-5872-C98C-F4E5-C184B2A2FDA2}"/>
              </a:ext>
            </a:extLst>
          </p:cNvPr>
          <p:cNvSpPr txBox="1"/>
          <p:nvPr/>
        </p:nvSpPr>
        <p:spPr>
          <a:xfrm>
            <a:off x="10470370" y="6508199"/>
            <a:ext cx="1457608" cy="2707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r">
              <a:lnSpc>
                <a:spcPct val="120009"/>
              </a:lnSpc>
            </a:pPr>
            <a:r>
              <a:rPr lang="en-US" sz="1466">
                <a:solidFill>
                  <a:srgbClr val="00227C"/>
                </a:solidFill>
                <a:latin typeface="Dosis"/>
                <a:ea typeface="Dosis"/>
                <a:cs typeface="Dosis"/>
                <a:sym typeface="Dosis"/>
              </a:rPr>
              <a:t>www.camacol.co</a:t>
            </a:r>
            <a:endParaRPr sz="120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26D6A92-D561-26BE-96BD-DD50BB3E475F}"/>
              </a:ext>
            </a:extLst>
          </p:cNvPr>
          <p:cNvSpPr txBox="1"/>
          <p:nvPr/>
        </p:nvSpPr>
        <p:spPr>
          <a:xfrm>
            <a:off x="2677886" y="716811"/>
            <a:ext cx="7086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/>
              <a:t>5,0 millones de hogares con déficit habitacional en 2024</a:t>
            </a:r>
            <a:endParaRPr lang="es-CO"/>
          </a:p>
        </p:txBody>
      </p:sp>
      <p:graphicFrame>
        <p:nvGraphicFramePr>
          <p:cNvPr id="6" name="Gráfico 5">
            <a:extLst>
              <a:ext uri="{FF2B5EF4-FFF2-40B4-BE49-F238E27FC236}">
                <a16:creationId xmlns:a16="http://schemas.microsoft.com/office/drawing/2014/main" id="{36342539-A003-20B0-8C6E-39DD6786875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93269806"/>
              </p:ext>
            </p:extLst>
          </p:nvPr>
        </p:nvGraphicFramePr>
        <p:xfrm>
          <a:off x="436052" y="1342586"/>
          <a:ext cx="11055068" cy="41963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2908204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1C9393-88EC-74B3-9000-BD7752ACE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0A253ED2-8BDA-29F1-B2B3-28A833019F4A}"/>
              </a:ext>
            </a:extLst>
          </p:cNvPr>
          <p:cNvSpPr txBox="1"/>
          <p:nvPr/>
        </p:nvSpPr>
        <p:spPr>
          <a:xfrm>
            <a:off x="515762" y="-1296"/>
            <a:ext cx="11251782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 defTabSz="914446">
              <a:defRPr/>
            </a:pPr>
            <a:r>
              <a:rPr lang="es-ES" sz="2400" b="1" dirty="0">
                <a:solidFill>
                  <a:prstClr val="black"/>
                </a:solidFill>
                <a:latin typeface="Dosis"/>
                <a:cs typeface="Arial"/>
                <a:sym typeface="Arial"/>
              </a:rPr>
              <a:t>Déficit habitacional en Colombia 2020 - 2024</a:t>
            </a:r>
          </a:p>
          <a:p>
            <a:pPr algn="ctr" defTabSz="914446">
              <a:defRPr/>
            </a:pPr>
            <a:r>
              <a:rPr lang="es-ES" sz="1600" dirty="0">
                <a:solidFill>
                  <a:prstClr val="black"/>
                </a:solidFill>
                <a:latin typeface="Dosis"/>
                <a:cs typeface="Arial"/>
                <a:sym typeface="Arial"/>
              </a:rPr>
              <a:t>Variación en puntos porcentuales</a:t>
            </a:r>
            <a:endParaRPr lang="es-ES" sz="1600" dirty="0">
              <a:solidFill>
                <a:prstClr val="black"/>
              </a:solidFill>
              <a:latin typeface="Dosis"/>
              <a:cs typeface="Arial"/>
            </a:endParaRPr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23DAD816-DC0C-134B-D50A-51701D1033C1}"/>
              </a:ext>
            </a:extLst>
          </p:cNvPr>
          <p:cNvSpPr txBox="1"/>
          <p:nvPr/>
        </p:nvSpPr>
        <p:spPr>
          <a:xfrm>
            <a:off x="784395" y="5538888"/>
            <a:ext cx="10706725" cy="73866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2100" dirty="0">
                <a:solidFill>
                  <a:prstClr val="black"/>
                </a:solidFill>
                <a:latin typeface="Dosis" pitchFamily="2" charset="0"/>
              </a:rPr>
              <a:t>Los resultados de la ECV para 2024 muestran que en variación por puntos porcentuales, el déficit habitacional cae en el total nacional y cabecera pero no en centros poblados.</a:t>
            </a:r>
            <a:endParaRPr kumimoji="0" lang="es-CO" sz="21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osis" pitchFamily="2" charset="0"/>
              <a:ea typeface="+mn-ea"/>
              <a:cs typeface="+mn-cs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FA8A9045-C846-1563-C386-2984B2224F47}"/>
              </a:ext>
            </a:extLst>
          </p:cNvPr>
          <p:cNvSpPr txBox="1"/>
          <p:nvPr/>
        </p:nvSpPr>
        <p:spPr>
          <a:xfrm>
            <a:off x="150578" y="6323019"/>
            <a:ext cx="96139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osis" pitchFamily="2" charset="0"/>
                <a:ea typeface="+mn-ea"/>
                <a:cs typeface="+mn-cs"/>
              </a:rPr>
              <a:t>Fuente: DANE– Cálculos Camacol</a:t>
            </a:r>
          </a:p>
          <a:p>
            <a:pPr lvl="0">
              <a:defRPr/>
            </a:pPr>
            <a:r>
              <a:rPr kumimoji="0" lang="es-MX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osis" pitchFamily="2" charset="0"/>
                <a:ea typeface="+mn-ea"/>
                <a:cs typeface="+mn-cs"/>
              </a:rPr>
              <a:t>Nota: Déficit habitacional NO incluye viviendas tradicionales indígenas.</a:t>
            </a:r>
            <a:endParaRPr kumimoji="0" lang="es-CO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osis" pitchFamily="2" charset="0"/>
              <a:ea typeface="+mn-ea"/>
              <a:cs typeface="+mn-cs"/>
            </a:endParaRPr>
          </a:p>
        </p:txBody>
      </p:sp>
      <p:sp>
        <p:nvSpPr>
          <p:cNvPr id="3" name="Google Shape;189;p5">
            <a:extLst>
              <a:ext uri="{FF2B5EF4-FFF2-40B4-BE49-F238E27FC236}">
                <a16:creationId xmlns:a16="http://schemas.microsoft.com/office/drawing/2014/main" id="{07AFE158-B0E7-3754-FDD0-DCAF4F90B4BB}"/>
              </a:ext>
            </a:extLst>
          </p:cNvPr>
          <p:cNvSpPr txBox="1"/>
          <p:nvPr/>
        </p:nvSpPr>
        <p:spPr>
          <a:xfrm>
            <a:off x="10470370" y="6508199"/>
            <a:ext cx="1457608" cy="2707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r">
              <a:lnSpc>
                <a:spcPct val="120009"/>
              </a:lnSpc>
            </a:pPr>
            <a:r>
              <a:rPr lang="en-US" sz="1466">
                <a:solidFill>
                  <a:srgbClr val="00227C"/>
                </a:solidFill>
                <a:latin typeface="Dosis"/>
                <a:ea typeface="Dosis"/>
                <a:cs typeface="Dosis"/>
                <a:sym typeface="Dosis"/>
              </a:rPr>
              <a:t>www.camacol.co</a:t>
            </a:r>
            <a:endParaRPr sz="120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0520364-6AD4-6A42-F8D1-11F67095CC83}"/>
              </a:ext>
            </a:extLst>
          </p:cNvPr>
          <p:cNvSpPr txBox="1"/>
          <p:nvPr/>
        </p:nvSpPr>
        <p:spPr>
          <a:xfrm>
            <a:off x="2677886" y="716811"/>
            <a:ext cx="7086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/>
              <a:t>5,0 millones de hogares con déficit habitacional en 2024</a:t>
            </a:r>
            <a:endParaRPr lang="es-CO"/>
          </a:p>
        </p:txBody>
      </p:sp>
      <p:graphicFrame>
        <p:nvGraphicFramePr>
          <p:cNvPr id="2" name="Gráfico 1">
            <a:extLst>
              <a:ext uri="{FF2B5EF4-FFF2-40B4-BE49-F238E27FC236}">
                <a16:creationId xmlns:a16="http://schemas.microsoft.com/office/drawing/2014/main" id="{AE042C4C-18D8-4AFF-A954-74DB30BD38A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62079054"/>
              </p:ext>
            </p:extLst>
          </p:nvPr>
        </p:nvGraphicFramePr>
        <p:xfrm>
          <a:off x="515762" y="1131610"/>
          <a:ext cx="10975358" cy="436181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6646899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C41E55-8A22-2714-4ABD-E47A8F948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FB81644C-D131-2AE7-E9C4-58CBAD83723D}"/>
              </a:ext>
            </a:extLst>
          </p:cNvPr>
          <p:cNvSpPr txBox="1"/>
          <p:nvPr/>
        </p:nvSpPr>
        <p:spPr>
          <a:xfrm>
            <a:off x="515762" y="-1296"/>
            <a:ext cx="11251782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 defTabSz="914446">
              <a:defRPr/>
            </a:pPr>
            <a:r>
              <a:rPr lang="es-ES" sz="2400" b="1">
                <a:solidFill>
                  <a:prstClr val="black"/>
                </a:solidFill>
                <a:latin typeface="Dosis"/>
                <a:cs typeface="Arial"/>
                <a:sym typeface="Arial"/>
              </a:rPr>
              <a:t>Déficit habitacional en Colombia 2020 - 2024</a:t>
            </a:r>
          </a:p>
          <a:p>
            <a:pPr algn="ctr" defTabSz="914446">
              <a:defRPr/>
            </a:pPr>
            <a:r>
              <a:rPr lang="es-ES" sz="1600">
                <a:solidFill>
                  <a:prstClr val="black"/>
                </a:solidFill>
                <a:latin typeface="Dosis"/>
                <a:cs typeface="Arial"/>
                <a:sym typeface="Arial"/>
              </a:rPr>
              <a:t>Variación hogares en miles</a:t>
            </a:r>
            <a:endParaRPr lang="es-ES" sz="1600">
              <a:solidFill>
                <a:prstClr val="black"/>
              </a:solidFill>
              <a:latin typeface="Dosis"/>
              <a:cs typeface="Arial"/>
            </a:endParaRPr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2BAAE6A8-0BD8-9A18-E943-FC523843123D}"/>
              </a:ext>
            </a:extLst>
          </p:cNvPr>
          <p:cNvSpPr txBox="1"/>
          <p:nvPr/>
        </p:nvSpPr>
        <p:spPr>
          <a:xfrm>
            <a:off x="784395" y="5538888"/>
            <a:ext cx="10706725" cy="73866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2100">
                <a:solidFill>
                  <a:prstClr val="black"/>
                </a:solidFill>
                <a:latin typeface="Dosis" pitchFamily="2" charset="0"/>
              </a:rPr>
              <a:t>Los resultados de la ECV para 2024 muestran que en variación en miles de hogares el déficit habitacional cae en el total nacional y cabecera pero no en centros poblados.</a:t>
            </a:r>
            <a:endParaRPr kumimoji="0" lang="es-CO" sz="210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osis" pitchFamily="2" charset="0"/>
              <a:ea typeface="+mn-ea"/>
              <a:cs typeface="+mn-cs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977EBE1A-465A-853A-EF12-116A68954D66}"/>
              </a:ext>
            </a:extLst>
          </p:cNvPr>
          <p:cNvSpPr txBox="1"/>
          <p:nvPr/>
        </p:nvSpPr>
        <p:spPr>
          <a:xfrm>
            <a:off x="150578" y="6323019"/>
            <a:ext cx="96139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osis" pitchFamily="2" charset="0"/>
                <a:ea typeface="+mn-ea"/>
                <a:cs typeface="+mn-cs"/>
              </a:rPr>
              <a:t>Fuente: DANE– Cálculos Camacol</a:t>
            </a:r>
          </a:p>
          <a:p>
            <a:pPr lvl="0">
              <a:defRPr/>
            </a:pPr>
            <a:r>
              <a:rPr kumimoji="0" lang="es-MX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osis" pitchFamily="2" charset="0"/>
                <a:ea typeface="+mn-ea"/>
                <a:cs typeface="+mn-cs"/>
              </a:rPr>
              <a:t>Nota: Déficit habitacional NO incluye viviendas tradicionales indígenas.</a:t>
            </a:r>
            <a:endParaRPr kumimoji="0" lang="es-CO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osis" pitchFamily="2" charset="0"/>
              <a:ea typeface="+mn-ea"/>
              <a:cs typeface="+mn-cs"/>
            </a:endParaRPr>
          </a:p>
        </p:txBody>
      </p:sp>
      <p:sp>
        <p:nvSpPr>
          <p:cNvPr id="3" name="Google Shape;189;p5">
            <a:extLst>
              <a:ext uri="{FF2B5EF4-FFF2-40B4-BE49-F238E27FC236}">
                <a16:creationId xmlns:a16="http://schemas.microsoft.com/office/drawing/2014/main" id="{D768D50E-7273-B90B-75F7-E6CEFBFE8DFF}"/>
              </a:ext>
            </a:extLst>
          </p:cNvPr>
          <p:cNvSpPr txBox="1"/>
          <p:nvPr/>
        </p:nvSpPr>
        <p:spPr>
          <a:xfrm>
            <a:off x="10470370" y="6508199"/>
            <a:ext cx="1457608" cy="2707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r">
              <a:lnSpc>
                <a:spcPct val="120009"/>
              </a:lnSpc>
            </a:pPr>
            <a:r>
              <a:rPr lang="en-US" sz="1466">
                <a:solidFill>
                  <a:srgbClr val="00227C"/>
                </a:solidFill>
                <a:latin typeface="Dosis"/>
                <a:ea typeface="Dosis"/>
                <a:cs typeface="Dosis"/>
                <a:sym typeface="Dosis"/>
              </a:rPr>
              <a:t>www.camacol.co</a:t>
            </a:r>
            <a:endParaRPr sz="120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284E79B-6C35-5D90-2F2B-58508B1C6C47}"/>
              </a:ext>
            </a:extLst>
          </p:cNvPr>
          <p:cNvSpPr txBox="1"/>
          <p:nvPr/>
        </p:nvSpPr>
        <p:spPr>
          <a:xfrm>
            <a:off x="2677886" y="716811"/>
            <a:ext cx="7086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/>
              <a:t>5,0 millones de hogares con déficit habitacional en 2024</a:t>
            </a:r>
            <a:endParaRPr lang="es-CO"/>
          </a:p>
        </p:txBody>
      </p:sp>
      <p:graphicFrame>
        <p:nvGraphicFramePr>
          <p:cNvPr id="2" name="Gráfico 1">
            <a:extLst>
              <a:ext uri="{FF2B5EF4-FFF2-40B4-BE49-F238E27FC236}">
                <a16:creationId xmlns:a16="http://schemas.microsoft.com/office/drawing/2014/main" id="{91DA0579-35B1-8043-6915-0F34E678FF8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13142721"/>
              </p:ext>
            </p:extLst>
          </p:nvPr>
        </p:nvGraphicFramePr>
        <p:xfrm>
          <a:off x="515762" y="1131610"/>
          <a:ext cx="10975358" cy="436181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0817119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A0E001-0642-654B-C45A-0B128B7E5D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F56291B4-219F-0FAC-BCF5-7D9E1026A20C}"/>
              </a:ext>
            </a:extLst>
          </p:cNvPr>
          <p:cNvSpPr txBox="1"/>
          <p:nvPr/>
        </p:nvSpPr>
        <p:spPr>
          <a:xfrm>
            <a:off x="515762" y="-1296"/>
            <a:ext cx="11251782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 defTabSz="914446">
              <a:defRPr/>
            </a:pPr>
            <a:r>
              <a:rPr lang="es-ES" sz="2400" b="1">
                <a:solidFill>
                  <a:prstClr val="black"/>
                </a:solidFill>
                <a:latin typeface="Dosis"/>
                <a:cs typeface="Arial"/>
                <a:sym typeface="Arial"/>
              </a:rPr>
              <a:t>Déficit cualitativo en Colombia 2019-2024</a:t>
            </a:r>
          </a:p>
          <a:p>
            <a:pPr algn="ctr" defTabSz="914446">
              <a:defRPr/>
            </a:pPr>
            <a:r>
              <a:rPr lang="es-ES" sz="1600">
                <a:solidFill>
                  <a:prstClr val="black"/>
                </a:solidFill>
                <a:latin typeface="Dosis"/>
                <a:cs typeface="Arial"/>
                <a:sym typeface="Arial"/>
              </a:rPr>
              <a:t>Porcentaje de hogares</a:t>
            </a:r>
            <a:endParaRPr lang="es-ES" sz="1600">
              <a:solidFill>
                <a:prstClr val="black"/>
              </a:solidFill>
              <a:latin typeface="Dosis"/>
              <a:cs typeface="Arial"/>
            </a:endParaRPr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A1D4A52B-71D0-1713-B54F-26310E728617}"/>
              </a:ext>
            </a:extLst>
          </p:cNvPr>
          <p:cNvSpPr txBox="1"/>
          <p:nvPr/>
        </p:nvSpPr>
        <p:spPr>
          <a:xfrm>
            <a:off x="784395" y="5538888"/>
            <a:ext cx="10706725" cy="73866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2100">
                <a:solidFill>
                  <a:prstClr val="black"/>
                </a:solidFill>
                <a:latin typeface="Dosis" pitchFamily="2" charset="0"/>
              </a:rPr>
              <a:t>Los resultados de la ECV para 2024 muestran que el porcentaje de hogares que habitaban en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2100">
                <a:solidFill>
                  <a:prstClr val="black"/>
                </a:solidFill>
                <a:latin typeface="Dosis" pitchFamily="2" charset="0"/>
              </a:rPr>
              <a:t>viviendas con déficit habitacional fue del 26,8%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C76399AF-ED86-FA3F-2A27-89175F0B71B8}"/>
              </a:ext>
            </a:extLst>
          </p:cNvPr>
          <p:cNvSpPr txBox="1"/>
          <p:nvPr/>
        </p:nvSpPr>
        <p:spPr>
          <a:xfrm>
            <a:off x="150578" y="6323019"/>
            <a:ext cx="96139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osis" pitchFamily="2" charset="0"/>
                <a:ea typeface="+mn-ea"/>
                <a:cs typeface="+mn-cs"/>
              </a:rPr>
              <a:t>Fuente: DANE– Cálculos Camacol</a:t>
            </a:r>
          </a:p>
          <a:p>
            <a:pPr lvl="0">
              <a:defRPr/>
            </a:pPr>
            <a:r>
              <a:rPr kumimoji="0" lang="es-MX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osis" pitchFamily="2" charset="0"/>
                <a:ea typeface="+mn-ea"/>
                <a:cs typeface="+mn-cs"/>
              </a:rPr>
              <a:t>Nota: Déficit habitacional NO incluye viviendas tradicionales indígenas.</a:t>
            </a:r>
            <a:endParaRPr kumimoji="0" lang="es-CO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osis" pitchFamily="2" charset="0"/>
              <a:ea typeface="+mn-ea"/>
              <a:cs typeface="+mn-cs"/>
            </a:endParaRPr>
          </a:p>
        </p:txBody>
      </p:sp>
      <p:sp>
        <p:nvSpPr>
          <p:cNvPr id="3" name="Google Shape;189;p5">
            <a:extLst>
              <a:ext uri="{FF2B5EF4-FFF2-40B4-BE49-F238E27FC236}">
                <a16:creationId xmlns:a16="http://schemas.microsoft.com/office/drawing/2014/main" id="{3D7F125D-D6CC-95F7-56DE-081811194623}"/>
              </a:ext>
            </a:extLst>
          </p:cNvPr>
          <p:cNvSpPr txBox="1"/>
          <p:nvPr/>
        </p:nvSpPr>
        <p:spPr>
          <a:xfrm>
            <a:off x="10470370" y="6508199"/>
            <a:ext cx="1457608" cy="2707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r">
              <a:lnSpc>
                <a:spcPct val="120009"/>
              </a:lnSpc>
            </a:pPr>
            <a:r>
              <a:rPr lang="en-US" sz="1466">
                <a:solidFill>
                  <a:srgbClr val="00227C"/>
                </a:solidFill>
                <a:latin typeface="Dosis"/>
                <a:ea typeface="Dosis"/>
                <a:cs typeface="Dosis"/>
                <a:sym typeface="Dosis"/>
              </a:rPr>
              <a:t>www.camacol.co</a:t>
            </a:r>
            <a:endParaRPr sz="120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2389847-3E47-544E-8552-A6C7CEFFD93E}"/>
              </a:ext>
            </a:extLst>
          </p:cNvPr>
          <p:cNvSpPr txBox="1"/>
          <p:nvPr/>
        </p:nvSpPr>
        <p:spPr>
          <a:xfrm>
            <a:off x="2677886" y="716811"/>
            <a:ext cx="7086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/>
              <a:t>3,6 millones de hogares con déficit cualitativo en 2024</a:t>
            </a:r>
            <a:endParaRPr lang="es-CO"/>
          </a:p>
        </p:txBody>
      </p:sp>
      <p:graphicFrame>
        <p:nvGraphicFramePr>
          <p:cNvPr id="6" name="Gráfico 5">
            <a:extLst>
              <a:ext uri="{FF2B5EF4-FFF2-40B4-BE49-F238E27FC236}">
                <a16:creationId xmlns:a16="http://schemas.microsoft.com/office/drawing/2014/main" id="{367CE4FA-E33A-265B-A68A-747BE6F0629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86352425"/>
              </p:ext>
            </p:extLst>
          </p:nvPr>
        </p:nvGraphicFramePr>
        <p:xfrm>
          <a:off x="436052" y="1342586"/>
          <a:ext cx="11055068" cy="41963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1155070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CA93FB-ED77-51DF-D288-6990F5BAAF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8DBC19EA-619C-DE80-2973-364D44B6189F}"/>
              </a:ext>
            </a:extLst>
          </p:cNvPr>
          <p:cNvSpPr txBox="1"/>
          <p:nvPr/>
        </p:nvSpPr>
        <p:spPr>
          <a:xfrm>
            <a:off x="515762" y="-1296"/>
            <a:ext cx="11251782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 defTabSz="914446">
              <a:defRPr/>
            </a:pPr>
            <a:r>
              <a:rPr lang="es-ES" sz="2400" b="1" dirty="0">
                <a:solidFill>
                  <a:prstClr val="black"/>
                </a:solidFill>
                <a:latin typeface="Dosis"/>
                <a:cs typeface="Arial"/>
                <a:sym typeface="Arial"/>
              </a:rPr>
              <a:t>Déficit cualitativo en Colombia 2020 - 2024</a:t>
            </a:r>
          </a:p>
          <a:p>
            <a:pPr algn="ctr" defTabSz="914446">
              <a:defRPr/>
            </a:pPr>
            <a:r>
              <a:rPr lang="es-ES" sz="1600" dirty="0">
                <a:solidFill>
                  <a:prstClr val="black"/>
                </a:solidFill>
                <a:latin typeface="Dosis"/>
                <a:cs typeface="Arial"/>
                <a:sym typeface="Arial"/>
              </a:rPr>
              <a:t>Variación en puntos porcentuales</a:t>
            </a:r>
            <a:endParaRPr lang="es-ES" sz="1600" dirty="0">
              <a:solidFill>
                <a:prstClr val="black"/>
              </a:solidFill>
              <a:latin typeface="Dosis"/>
              <a:cs typeface="Arial"/>
            </a:endParaRPr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D50AE50F-1DC7-539D-CB53-0C09C088A9F9}"/>
              </a:ext>
            </a:extLst>
          </p:cNvPr>
          <p:cNvSpPr txBox="1"/>
          <p:nvPr/>
        </p:nvSpPr>
        <p:spPr>
          <a:xfrm>
            <a:off x="980338" y="5607881"/>
            <a:ext cx="10706725" cy="41549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2100" dirty="0">
                <a:solidFill>
                  <a:prstClr val="black"/>
                </a:solidFill>
                <a:latin typeface="Dosis" pitchFamily="2" charset="0"/>
              </a:rPr>
              <a:t>Los resultados de la ECV para 2024 muestran que el déficit cualitativo cae en 2,07 </a:t>
            </a:r>
            <a:r>
              <a:rPr lang="es-MX" sz="2100" dirty="0" err="1">
                <a:solidFill>
                  <a:prstClr val="black"/>
                </a:solidFill>
                <a:latin typeface="Dosis" pitchFamily="2" charset="0"/>
              </a:rPr>
              <a:t>p.p</a:t>
            </a:r>
            <a:r>
              <a:rPr lang="es-MX" sz="2100" dirty="0">
                <a:solidFill>
                  <a:prstClr val="black"/>
                </a:solidFill>
                <a:latin typeface="Dosis" pitchFamily="2" charset="0"/>
              </a:rPr>
              <a:t> a nivel nacional</a:t>
            </a:r>
            <a:endParaRPr kumimoji="0" lang="es-CO" sz="21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osis" pitchFamily="2" charset="0"/>
              <a:ea typeface="+mn-ea"/>
              <a:cs typeface="+mn-cs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B3879EA8-D194-B8BF-AB9C-7B6A2730A275}"/>
              </a:ext>
            </a:extLst>
          </p:cNvPr>
          <p:cNvSpPr txBox="1"/>
          <p:nvPr/>
        </p:nvSpPr>
        <p:spPr>
          <a:xfrm>
            <a:off x="150578" y="6323019"/>
            <a:ext cx="96139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osis" pitchFamily="2" charset="0"/>
                <a:ea typeface="+mn-ea"/>
                <a:cs typeface="+mn-cs"/>
              </a:rPr>
              <a:t>Fuente: DANE– Cálculos Camacol</a:t>
            </a:r>
          </a:p>
          <a:p>
            <a:pPr lvl="0">
              <a:defRPr/>
            </a:pPr>
            <a:r>
              <a:rPr kumimoji="0" lang="es-MX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osis" pitchFamily="2" charset="0"/>
                <a:ea typeface="+mn-ea"/>
                <a:cs typeface="+mn-cs"/>
              </a:rPr>
              <a:t>Nota: Déficit habitacional NO incluye viviendas tradicionales indígenas.</a:t>
            </a:r>
            <a:endParaRPr kumimoji="0" lang="es-CO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osis" pitchFamily="2" charset="0"/>
              <a:ea typeface="+mn-ea"/>
              <a:cs typeface="+mn-cs"/>
            </a:endParaRPr>
          </a:p>
        </p:txBody>
      </p:sp>
      <p:sp>
        <p:nvSpPr>
          <p:cNvPr id="3" name="Google Shape;189;p5">
            <a:extLst>
              <a:ext uri="{FF2B5EF4-FFF2-40B4-BE49-F238E27FC236}">
                <a16:creationId xmlns:a16="http://schemas.microsoft.com/office/drawing/2014/main" id="{83655A3F-10E2-6EDC-EC28-22B59EC82BD0}"/>
              </a:ext>
            </a:extLst>
          </p:cNvPr>
          <p:cNvSpPr txBox="1"/>
          <p:nvPr/>
        </p:nvSpPr>
        <p:spPr>
          <a:xfrm>
            <a:off x="10470370" y="6508199"/>
            <a:ext cx="1457608" cy="2707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r">
              <a:lnSpc>
                <a:spcPct val="120009"/>
              </a:lnSpc>
            </a:pPr>
            <a:r>
              <a:rPr lang="en-US" sz="1466">
                <a:solidFill>
                  <a:srgbClr val="00227C"/>
                </a:solidFill>
                <a:latin typeface="Dosis"/>
                <a:ea typeface="Dosis"/>
                <a:cs typeface="Dosis"/>
                <a:sym typeface="Dosis"/>
              </a:rPr>
              <a:t>www.camacol.co</a:t>
            </a:r>
            <a:endParaRPr sz="120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A279F51-65CA-0EEB-B911-5CD5D535C1E6}"/>
              </a:ext>
            </a:extLst>
          </p:cNvPr>
          <p:cNvSpPr txBox="1"/>
          <p:nvPr/>
        </p:nvSpPr>
        <p:spPr>
          <a:xfrm>
            <a:off x="2677886" y="716811"/>
            <a:ext cx="7086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/>
              <a:t>3,6 millones de hogares con déficit cualitativo en 2024</a:t>
            </a:r>
            <a:endParaRPr lang="es-CO"/>
          </a:p>
        </p:txBody>
      </p:sp>
      <p:graphicFrame>
        <p:nvGraphicFramePr>
          <p:cNvPr id="2" name="Gráfico 1">
            <a:extLst>
              <a:ext uri="{FF2B5EF4-FFF2-40B4-BE49-F238E27FC236}">
                <a16:creationId xmlns:a16="http://schemas.microsoft.com/office/drawing/2014/main" id="{BCEBC606-9E83-06CB-8B57-4FBAD15EEEB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87349312"/>
              </p:ext>
            </p:extLst>
          </p:nvPr>
        </p:nvGraphicFramePr>
        <p:xfrm>
          <a:off x="784395" y="1131610"/>
          <a:ext cx="10514976" cy="436181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7280521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2B34CC-27D3-3E15-EEA4-FC3F6DF02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2292CA72-965C-9DC6-CD2E-43F7E9A388A2}"/>
              </a:ext>
            </a:extLst>
          </p:cNvPr>
          <p:cNvSpPr txBox="1"/>
          <p:nvPr/>
        </p:nvSpPr>
        <p:spPr>
          <a:xfrm>
            <a:off x="515762" y="-1296"/>
            <a:ext cx="11251782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 defTabSz="914446">
              <a:defRPr/>
            </a:pPr>
            <a:r>
              <a:rPr lang="es-ES" sz="2400" b="1">
                <a:solidFill>
                  <a:prstClr val="black"/>
                </a:solidFill>
                <a:latin typeface="Dosis"/>
                <a:cs typeface="Arial"/>
                <a:sym typeface="Arial"/>
              </a:rPr>
              <a:t>Déficit habitacional en Colombia 2020 - 2024</a:t>
            </a:r>
          </a:p>
          <a:p>
            <a:pPr algn="ctr" defTabSz="914446">
              <a:defRPr/>
            </a:pPr>
            <a:r>
              <a:rPr lang="es-ES" sz="1600">
                <a:solidFill>
                  <a:prstClr val="black"/>
                </a:solidFill>
                <a:latin typeface="Dosis"/>
                <a:cs typeface="Arial"/>
                <a:sym typeface="Arial"/>
              </a:rPr>
              <a:t>Variación hogares en miles</a:t>
            </a:r>
            <a:endParaRPr lang="es-ES" sz="1600">
              <a:solidFill>
                <a:prstClr val="black"/>
              </a:solidFill>
              <a:latin typeface="Dosis"/>
              <a:cs typeface="Arial"/>
            </a:endParaRPr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91F2958B-CB50-3423-C26B-CE2A1B21C9A7}"/>
              </a:ext>
            </a:extLst>
          </p:cNvPr>
          <p:cNvSpPr txBox="1"/>
          <p:nvPr/>
        </p:nvSpPr>
        <p:spPr>
          <a:xfrm>
            <a:off x="784395" y="5538888"/>
            <a:ext cx="10706725" cy="73866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2100">
                <a:solidFill>
                  <a:prstClr val="black"/>
                </a:solidFill>
                <a:latin typeface="Dosis" pitchFamily="2" charset="0"/>
              </a:rPr>
              <a:t>Los resultados de la ECV para 2024 muestran que en variación en miles de hogares el déficit habitacional cae en el total nacional, cabecera y centros poblados.</a:t>
            </a:r>
            <a:endParaRPr kumimoji="0" lang="es-CO" sz="210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osis" pitchFamily="2" charset="0"/>
              <a:ea typeface="+mn-ea"/>
              <a:cs typeface="+mn-cs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F566291D-1E86-923D-2C9C-394E55655957}"/>
              </a:ext>
            </a:extLst>
          </p:cNvPr>
          <p:cNvSpPr txBox="1"/>
          <p:nvPr/>
        </p:nvSpPr>
        <p:spPr>
          <a:xfrm>
            <a:off x="150578" y="6323019"/>
            <a:ext cx="96139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osis" pitchFamily="2" charset="0"/>
                <a:ea typeface="+mn-ea"/>
                <a:cs typeface="+mn-cs"/>
              </a:rPr>
              <a:t>Fuente: DANE– Cálculos Camacol</a:t>
            </a:r>
          </a:p>
          <a:p>
            <a:pPr lvl="0">
              <a:defRPr/>
            </a:pPr>
            <a:r>
              <a:rPr kumimoji="0" lang="es-MX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osis" pitchFamily="2" charset="0"/>
                <a:ea typeface="+mn-ea"/>
                <a:cs typeface="+mn-cs"/>
              </a:rPr>
              <a:t>Nota: Déficit habitacional NO incluye viviendas tradicionales indígenas.</a:t>
            </a:r>
            <a:endParaRPr kumimoji="0" lang="es-CO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osis" pitchFamily="2" charset="0"/>
              <a:ea typeface="+mn-ea"/>
              <a:cs typeface="+mn-cs"/>
            </a:endParaRPr>
          </a:p>
        </p:txBody>
      </p:sp>
      <p:sp>
        <p:nvSpPr>
          <p:cNvPr id="3" name="Google Shape;189;p5">
            <a:extLst>
              <a:ext uri="{FF2B5EF4-FFF2-40B4-BE49-F238E27FC236}">
                <a16:creationId xmlns:a16="http://schemas.microsoft.com/office/drawing/2014/main" id="{50A8A411-07A5-FAD8-4B77-FA4B557BEA5A}"/>
              </a:ext>
            </a:extLst>
          </p:cNvPr>
          <p:cNvSpPr txBox="1"/>
          <p:nvPr/>
        </p:nvSpPr>
        <p:spPr>
          <a:xfrm>
            <a:off x="10470370" y="6508199"/>
            <a:ext cx="1457608" cy="2707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r">
              <a:lnSpc>
                <a:spcPct val="120009"/>
              </a:lnSpc>
            </a:pPr>
            <a:r>
              <a:rPr lang="en-US" sz="1466">
                <a:solidFill>
                  <a:srgbClr val="00227C"/>
                </a:solidFill>
                <a:latin typeface="Dosis"/>
                <a:ea typeface="Dosis"/>
                <a:cs typeface="Dosis"/>
                <a:sym typeface="Dosis"/>
              </a:rPr>
              <a:t>www.camacol.co</a:t>
            </a:r>
            <a:endParaRPr sz="120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2B1BE72-2B06-83B8-2EAA-3842A7F45512}"/>
              </a:ext>
            </a:extLst>
          </p:cNvPr>
          <p:cNvSpPr txBox="1"/>
          <p:nvPr/>
        </p:nvSpPr>
        <p:spPr>
          <a:xfrm>
            <a:off x="2677886" y="716811"/>
            <a:ext cx="7086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/>
              <a:t>3,6 millones de hogares con déficit cualitativo en 2024</a:t>
            </a:r>
            <a:endParaRPr lang="es-CO"/>
          </a:p>
        </p:txBody>
      </p:sp>
      <p:graphicFrame>
        <p:nvGraphicFramePr>
          <p:cNvPr id="2" name="Gráfico 1">
            <a:extLst>
              <a:ext uri="{FF2B5EF4-FFF2-40B4-BE49-F238E27FC236}">
                <a16:creationId xmlns:a16="http://schemas.microsoft.com/office/drawing/2014/main" id="{D3E03161-6ADC-FA35-BC86-247A341B204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26955158"/>
              </p:ext>
            </p:extLst>
          </p:nvPr>
        </p:nvGraphicFramePr>
        <p:xfrm>
          <a:off x="515762" y="1131610"/>
          <a:ext cx="10975358" cy="436181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4940043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E166AF-DF92-20E9-CB72-C213D39CBD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46798319-A2DE-9664-7551-0D3EA625F6EF}"/>
              </a:ext>
            </a:extLst>
          </p:cNvPr>
          <p:cNvSpPr txBox="1"/>
          <p:nvPr/>
        </p:nvSpPr>
        <p:spPr>
          <a:xfrm>
            <a:off x="2594457" y="706590"/>
            <a:ext cx="7086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/>
              <a:t>1.249 hogares con déficit cuantitativo en 2024</a:t>
            </a:r>
            <a:endParaRPr lang="es-CO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B9A3ACBD-044D-08C0-C7CF-766F8059E0B1}"/>
              </a:ext>
            </a:extLst>
          </p:cNvPr>
          <p:cNvSpPr txBox="1"/>
          <p:nvPr/>
        </p:nvSpPr>
        <p:spPr>
          <a:xfrm>
            <a:off x="515762" y="-1296"/>
            <a:ext cx="11251782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 defTabSz="914446">
              <a:defRPr/>
            </a:pPr>
            <a:r>
              <a:rPr lang="es-ES" sz="2400" b="1">
                <a:solidFill>
                  <a:prstClr val="black"/>
                </a:solidFill>
                <a:latin typeface="Dosis"/>
                <a:cs typeface="Arial"/>
                <a:sym typeface="Arial"/>
              </a:rPr>
              <a:t>Déficit cuantitativo en Colombia 2019-2024</a:t>
            </a:r>
          </a:p>
          <a:p>
            <a:pPr algn="ctr" defTabSz="914446">
              <a:defRPr/>
            </a:pPr>
            <a:r>
              <a:rPr lang="es-ES" sz="1600">
                <a:solidFill>
                  <a:prstClr val="black"/>
                </a:solidFill>
                <a:latin typeface="Dosis"/>
                <a:cs typeface="Arial"/>
                <a:sym typeface="Arial"/>
              </a:rPr>
              <a:t>Porcentaje de hogares</a:t>
            </a:r>
            <a:endParaRPr lang="es-ES" sz="1600">
              <a:solidFill>
                <a:prstClr val="black"/>
              </a:solidFill>
              <a:latin typeface="Dosis"/>
              <a:cs typeface="Arial"/>
            </a:endParaRPr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ADC7248C-CF23-377E-9194-D499E826B6C9}"/>
              </a:ext>
            </a:extLst>
          </p:cNvPr>
          <p:cNvSpPr txBox="1"/>
          <p:nvPr/>
        </p:nvSpPr>
        <p:spPr>
          <a:xfrm>
            <a:off x="936795" y="5628321"/>
            <a:ext cx="10706725" cy="73866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2100">
                <a:solidFill>
                  <a:prstClr val="black"/>
                </a:solidFill>
                <a:latin typeface="Dosis" pitchFamily="2" charset="0"/>
              </a:rPr>
              <a:t>Los resultados de la ECV en 2024 muestran que el porcentaje de hogares con déficit cuantitativo fue del 6,8% a nivel nacional.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8E4DC954-98E8-D98F-78AF-C906504753C4}"/>
              </a:ext>
            </a:extLst>
          </p:cNvPr>
          <p:cNvSpPr txBox="1"/>
          <p:nvPr/>
        </p:nvSpPr>
        <p:spPr>
          <a:xfrm>
            <a:off x="150578" y="6323019"/>
            <a:ext cx="96139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osis" pitchFamily="2" charset="0"/>
                <a:ea typeface="+mn-ea"/>
                <a:cs typeface="+mn-cs"/>
              </a:rPr>
              <a:t>Fuente: DANE– Cálculos Camacol</a:t>
            </a:r>
          </a:p>
          <a:p>
            <a:pPr lvl="0">
              <a:defRPr/>
            </a:pPr>
            <a:r>
              <a:rPr kumimoji="0" lang="es-MX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osis" pitchFamily="2" charset="0"/>
                <a:ea typeface="+mn-ea"/>
                <a:cs typeface="+mn-cs"/>
              </a:rPr>
              <a:t>Nota: Déficit habitacional NO incluye viviendas tradicionales indígenas.</a:t>
            </a:r>
            <a:endParaRPr kumimoji="0" lang="es-CO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osis" pitchFamily="2" charset="0"/>
              <a:ea typeface="+mn-ea"/>
              <a:cs typeface="+mn-cs"/>
            </a:endParaRPr>
          </a:p>
        </p:txBody>
      </p:sp>
      <p:sp>
        <p:nvSpPr>
          <p:cNvPr id="3" name="Google Shape;189;p5">
            <a:extLst>
              <a:ext uri="{FF2B5EF4-FFF2-40B4-BE49-F238E27FC236}">
                <a16:creationId xmlns:a16="http://schemas.microsoft.com/office/drawing/2014/main" id="{80E3EAC9-76BE-9263-0BE8-176052A02344}"/>
              </a:ext>
            </a:extLst>
          </p:cNvPr>
          <p:cNvSpPr txBox="1"/>
          <p:nvPr/>
        </p:nvSpPr>
        <p:spPr>
          <a:xfrm>
            <a:off x="10470370" y="6508199"/>
            <a:ext cx="1457608" cy="2707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r">
              <a:lnSpc>
                <a:spcPct val="120009"/>
              </a:lnSpc>
            </a:pPr>
            <a:r>
              <a:rPr lang="en-US" sz="1466">
                <a:solidFill>
                  <a:srgbClr val="00227C"/>
                </a:solidFill>
                <a:latin typeface="Dosis"/>
                <a:ea typeface="Dosis"/>
                <a:cs typeface="Dosis"/>
                <a:sym typeface="Dosis"/>
              </a:rPr>
              <a:t>www.camacol.co</a:t>
            </a:r>
            <a:endParaRPr sz="1200"/>
          </a:p>
        </p:txBody>
      </p:sp>
      <p:graphicFrame>
        <p:nvGraphicFramePr>
          <p:cNvPr id="4" name="Gráfico 3">
            <a:extLst>
              <a:ext uri="{FF2B5EF4-FFF2-40B4-BE49-F238E27FC236}">
                <a16:creationId xmlns:a16="http://schemas.microsoft.com/office/drawing/2014/main" id="{FA21317F-B46F-4278-9765-F07B2E610A7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70801645"/>
              </p:ext>
            </p:extLst>
          </p:nvPr>
        </p:nvGraphicFramePr>
        <p:xfrm>
          <a:off x="936795" y="1131610"/>
          <a:ext cx="10547634" cy="43554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8068181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585C72-C183-3CCE-B986-570DA61D6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B50F89E9-F988-6385-25B2-6594377182BC}"/>
              </a:ext>
            </a:extLst>
          </p:cNvPr>
          <p:cNvSpPr txBox="1"/>
          <p:nvPr/>
        </p:nvSpPr>
        <p:spPr>
          <a:xfrm>
            <a:off x="515762" y="-1296"/>
            <a:ext cx="11251782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 defTabSz="914446">
              <a:defRPr/>
            </a:pPr>
            <a:r>
              <a:rPr lang="es-ES" sz="2400" b="1" dirty="0">
                <a:solidFill>
                  <a:prstClr val="black"/>
                </a:solidFill>
                <a:latin typeface="Dosis"/>
                <a:cs typeface="Arial"/>
                <a:sym typeface="Arial"/>
              </a:rPr>
              <a:t>Déficit cuantitativo en Colombia 2019-2024</a:t>
            </a:r>
          </a:p>
          <a:p>
            <a:pPr algn="ctr" defTabSz="914446">
              <a:defRPr/>
            </a:pPr>
            <a:r>
              <a:rPr lang="es-ES" sz="1600" dirty="0">
                <a:solidFill>
                  <a:prstClr val="black"/>
                </a:solidFill>
                <a:latin typeface="Dosis"/>
                <a:cs typeface="Arial"/>
                <a:sym typeface="Arial"/>
              </a:rPr>
              <a:t>Variación puntos porcentuales</a:t>
            </a:r>
            <a:endParaRPr lang="es-ES" sz="1600" dirty="0">
              <a:solidFill>
                <a:prstClr val="black"/>
              </a:solidFill>
              <a:latin typeface="Dosis"/>
              <a:cs typeface="Arial"/>
            </a:endParaRPr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44BE5602-E0D8-E387-AAC4-89A60AA28505}"/>
              </a:ext>
            </a:extLst>
          </p:cNvPr>
          <p:cNvSpPr txBox="1"/>
          <p:nvPr/>
        </p:nvSpPr>
        <p:spPr>
          <a:xfrm>
            <a:off x="1289046" y="5560642"/>
            <a:ext cx="9613908" cy="73866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2100" dirty="0">
                <a:solidFill>
                  <a:prstClr val="black"/>
                </a:solidFill>
                <a:latin typeface="Dosis" pitchFamily="2" charset="0"/>
              </a:rPr>
              <a:t>Los resultados de la ECV en 2024 evidencian que el déficit cuantitativo nacional aumenta 0,05 </a:t>
            </a:r>
            <a:r>
              <a:rPr lang="es-MX" sz="2100" dirty="0" err="1">
                <a:solidFill>
                  <a:prstClr val="black"/>
                </a:solidFill>
                <a:latin typeface="Dosis" pitchFamily="2" charset="0"/>
              </a:rPr>
              <a:t>p.p</a:t>
            </a:r>
            <a:r>
              <a:rPr lang="es-MX" sz="2100" dirty="0">
                <a:solidFill>
                  <a:prstClr val="black"/>
                </a:solidFill>
                <a:latin typeface="Dosis" pitchFamily="2" charset="0"/>
              </a:rPr>
              <a:t> frente al 2023.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6E850BDB-B8AC-7D21-BAF1-FB63973063EE}"/>
              </a:ext>
            </a:extLst>
          </p:cNvPr>
          <p:cNvSpPr txBox="1"/>
          <p:nvPr/>
        </p:nvSpPr>
        <p:spPr>
          <a:xfrm>
            <a:off x="150578" y="6323019"/>
            <a:ext cx="96139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osis" pitchFamily="2" charset="0"/>
                <a:ea typeface="+mn-ea"/>
                <a:cs typeface="+mn-cs"/>
              </a:rPr>
              <a:t>Fuente: DANE– Cálculos Camacol</a:t>
            </a:r>
          </a:p>
          <a:p>
            <a:pPr lvl="0">
              <a:defRPr/>
            </a:pPr>
            <a:r>
              <a:rPr kumimoji="0" lang="es-MX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osis" pitchFamily="2" charset="0"/>
                <a:ea typeface="+mn-ea"/>
                <a:cs typeface="+mn-cs"/>
              </a:rPr>
              <a:t>Nota: </a:t>
            </a:r>
            <a:r>
              <a:rPr lang="es-MX" sz="900">
                <a:solidFill>
                  <a:prstClr val="black"/>
                </a:solidFill>
                <a:latin typeface="Dosis" pitchFamily="2" charset="0"/>
              </a:rPr>
              <a:t> Encuesta Calidad de Vida</a:t>
            </a:r>
            <a:r>
              <a:rPr kumimoji="0" lang="es-MX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osis" pitchFamily="2" charset="0"/>
                <a:ea typeface="+mn-ea"/>
                <a:cs typeface="+mn-cs"/>
              </a:rPr>
              <a:t> NO incluye viviendas tradicionales indígenas.</a:t>
            </a:r>
            <a:endParaRPr kumimoji="0" lang="es-CO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osis" pitchFamily="2" charset="0"/>
              <a:ea typeface="+mn-ea"/>
              <a:cs typeface="+mn-cs"/>
            </a:endParaRPr>
          </a:p>
        </p:txBody>
      </p:sp>
      <p:sp>
        <p:nvSpPr>
          <p:cNvPr id="3" name="Google Shape;189;p5">
            <a:extLst>
              <a:ext uri="{FF2B5EF4-FFF2-40B4-BE49-F238E27FC236}">
                <a16:creationId xmlns:a16="http://schemas.microsoft.com/office/drawing/2014/main" id="{3FD33D7A-B344-668B-F662-D03470D08F9C}"/>
              </a:ext>
            </a:extLst>
          </p:cNvPr>
          <p:cNvSpPr txBox="1"/>
          <p:nvPr/>
        </p:nvSpPr>
        <p:spPr>
          <a:xfrm>
            <a:off x="10470370" y="6508199"/>
            <a:ext cx="1457608" cy="2707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r">
              <a:lnSpc>
                <a:spcPct val="120009"/>
              </a:lnSpc>
            </a:pPr>
            <a:r>
              <a:rPr lang="en-US" sz="1466">
                <a:solidFill>
                  <a:srgbClr val="00227C"/>
                </a:solidFill>
                <a:latin typeface="Dosis"/>
                <a:ea typeface="Dosis"/>
                <a:cs typeface="Dosis"/>
                <a:sym typeface="Dosis"/>
              </a:rPr>
              <a:t>www.camacol.co</a:t>
            </a:r>
            <a:endParaRPr sz="120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C87F6DA-B1E2-2409-2F23-11205F86B58B}"/>
              </a:ext>
            </a:extLst>
          </p:cNvPr>
          <p:cNvSpPr txBox="1"/>
          <p:nvPr/>
        </p:nvSpPr>
        <p:spPr>
          <a:xfrm>
            <a:off x="2677886" y="772847"/>
            <a:ext cx="7086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/>
              <a:t>1.249 hogares con déficit cuantitativo en 2024</a:t>
            </a:r>
            <a:endParaRPr lang="es-CO"/>
          </a:p>
        </p:txBody>
      </p:sp>
      <p:graphicFrame>
        <p:nvGraphicFramePr>
          <p:cNvPr id="6" name="Gráfico 5">
            <a:extLst>
              <a:ext uri="{FF2B5EF4-FFF2-40B4-BE49-F238E27FC236}">
                <a16:creationId xmlns:a16="http://schemas.microsoft.com/office/drawing/2014/main" id="{94E8A404-879C-D0A8-A718-16FE542513F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28582716"/>
              </p:ext>
            </p:extLst>
          </p:nvPr>
        </p:nvGraphicFramePr>
        <p:xfrm>
          <a:off x="436052" y="1342586"/>
          <a:ext cx="11055068" cy="41963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625590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4B27A-0E80-50FA-476E-8F9429A7BE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9E4EE888-9C4C-9203-F151-6C190637FCA3}"/>
              </a:ext>
            </a:extLst>
          </p:cNvPr>
          <p:cNvSpPr txBox="1"/>
          <p:nvPr/>
        </p:nvSpPr>
        <p:spPr>
          <a:xfrm>
            <a:off x="515762" y="-1296"/>
            <a:ext cx="11251782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 defTabSz="914446">
              <a:defRPr/>
            </a:pPr>
            <a:r>
              <a:rPr lang="es-ES" sz="2400" b="1">
                <a:solidFill>
                  <a:prstClr val="black"/>
                </a:solidFill>
                <a:latin typeface="Dosis"/>
                <a:cs typeface="Arial"/>
                <a:sym typeface="Arial"/>
              </a:rPr>
              <a:t>Déficit cuantitativo en Colombia 2019-2024</a:t>
            </a:r>
          </a:p>
          <a:p>
            <a:pPr algn="ctr" defTabSz="914446">
              <a:defRPr/>
            </a:pPr>
            <a:r>
              <a:rPr lang="es-ES" sz="1600">
                <a:solidFill>
                  <a:prstClr val="black"/>
                </a:solidFill>
                <a:latin typeface="Dosis"/>
                <a:cs typeface="Arial"/>
                <a:sym typeface="Arial"/>
              </a:rPr>
              <a:t>Variación hogares en miles</a:t>
            </a:r>
            <a:endParaRPr lang="es-ES" sz="1600">
              <a:solidFill>
                <a:prstClr val="black"/>
              </a:solidFill>
              <a:latin typeface="Dosis"/>
              <a:cs typeface="Arial"/>
            </a:endParaRPr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4393002C-44B0-5D35-0A86-E63117732639}"/>
              </a:ext>
            </a:extLst>
          </p:cNvPr>
          <p:cNvSpPr txBox="1"/>
          <p:nvPr/>
        </p:nvSpPr>
        <p:spPr>
          <a:xfrm>
            <a:off x="784395" y="5538888"/>
            <a:ext cx="10706725" cy="73866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2100">
                <a:solidFill>
                  <a:prstClr val="black"/>
                </a:solidFill>
                <a:latin typeface="Dosis" pitchFamily="2" charset="0"/>
              </a:rPr>
              <a:t>Los resultados de la ECV en 2024 evidencian que el número de hogares con déficit cuantitativo aumento 41,0 mil frente al 2023.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56236272-201B-7248-28D2-3158541D8FE9}"/>
              </a:ext>
            </a:extLst>
          </p:cNvPr>
          <p:cNvSpPr txBox="1"/>
          <p:nvPr/>
        </p:nvSpPr>
        <p:spPr>
          <a:xfrm>
            <a:off x="150578" y="6323019"/>
            <a:ext cx="96139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osis" pitchFamily="2" charset="0"/>
                <a:ea typeface="+mn-ea"/>
                <a:cs typeface="+mn-cs"/>
              </a:rPr>
              <a:t>Fuente: DANE– Cálculos Camacol</a:t>
            </a:r>
          </a:p>
          <a:p>
            <a:pPr lvl="0">
              <a:defRPr/>
            </a:pPr>
            <a:r>
              <a:rPr kumimoji="0" lang="es-MX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osis" pitchFamily="2" charset="0"/>
                <a:ea typeface="+mn-ea"/>
                <a:cs typeface="+mn-cs"/>
              </a:rPr>
              <a:t>Nota: </a:t>
            </a:r>
            <a:r>
              <a:rPr lang="es-MX" sz="900">
                <a:solidFill>
                  <a:prstClr val="black"/>
                </a:solidFill>
                <a:latin typeface="Dosis" pitchFamily="2" charset="0"/>
              </a:rPr>
              <a:t> Encuesta Calidad de Vida</a:t>
            </a:r>
            <a:r>
              <a:rPr kumimoji="0" lang="es-MX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osis" pitchFamily="2" charset="0"/>
                <a:ea typeface="+mn-ea"/>
                <a:cs typeface="+mn-cs"/>
              </a:rPr>
              <a:t> NO incluye viviendas tradicionales indígenas.</a:t>
            </a:r>
            <a:endParaRPr kumimoji="0" lang="es-CO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osis" pitchFamily="2" charset="0"/>
              <a:ea typeface="+mn-ea"/>
              <a:cs typeface="+mn-cs"/>
            </a:endParaRPr>
          </a:p>
        </p:txBody>
      </p:sp>
      <p:sp>
        <p:nvSpPr>
          <p:cNvPr id="3" name="Google Shape;189;p5">
            <a:extLst>
              <a:ext uri="{FF2B5EF4-FFF2-40B4-BE49-F238E27FC236}">
                <a16:creationId xmlns:a16="http://schemas.microsoft.com/office/drawing/2014/main" id="{4E6FCEA9-7A50-8448-D49F-5372EBF81E6D}"/>
              </a:ext>
            </a:extLst>
          </p:cNvPr>
          <p:cNvSpPr txBox="1"/>
          <p:nvPr/>
        </p:nvSpPr>
        <p:spPr>
          <a:xfrm>
            <a:off x="10470370" y="6508199"/>
            <a:ext cx="1457608" cy="2707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r">
              <a:lnSpc>
                <a:spcPct val="120009"/>
              </a:lnSpc>
            </a:pPr>
            <a:r>
              <a:rPr lang="en-US" sz="1466">
                <a:solidFill>
                  <a:srgbClr val="00227C"/>
                </a:solidFill>
                <a:latin typeface="Dosis"/>
                <a:ea typeface="Dosis"/>
                <a:cs typeface="Dosis"/>
                <a:sym typeface="Dosis"/>
              </a:rPr>
              <a:t>www.camacol.co</a:t>
            </a:r>
            <a:endParaRPr sz="120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1CAE6C8-5B33-3392-6638-FFF280753306}"/>
              </a:ext>
            </a:extLst>
          </p:cNvPr>
          <p:cNvSpPr txBox="1"/>
          <p:nvPr/>
        </p:nvSpPr>
        <p:spPr>
          <a:xfrm>
            <a:off x="2677886" y="772847"/>
            <a:ext cx="7086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/>
              <a:t>1.249 hogares con déficit cuantitativo en 2024</a:t>
            </a:r>
            <a:endParaRPr lang="es-CO"/>
          </a:p>
        </p:txBody>
      </p:sp>
      <p:graphicFrame>
        <p:nvGraphicFramePr>
          <p:cNvPr id="4" name="Gráfico 3">
            <a:extLst>
              <a:ext uri="{FF2B5EF4-FFF2-40B4-BE49-F238E27FC236}">
                <a16:creationId xmlns:a16="http://schemas.microsoft.com/office/drawing/2014/main" id="{5CA1C451-178C-4B73-A926-5902B1FE36A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54093198"/>
              </p:ext>
            </p:extLst>
          </p:nvPr>
        </p:nvGraphicFramePr>
        <p:xfrm>
          <a:off x="784395" y="1098620"/>
          <a:ext cx="10706725" cy="44402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20520039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lcf76f155ced4ddcb4097134ff3c332f xmlns="d62384bc-84af-4cee-9670-bdd7e3103028">
      <Terms xmlns="http://schemas.microsoft.com/office/infopath/2007/PartnerControls"/>
    </lcf76f155ced4ddcb4097134ff3c332f>
    <TaxCatchAll xmlns="d07a1b0e-5e0d-4395-b8ed-6b7f4c24bf1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E9C3C2A87D08D409B3F8E77471845A6" ma:contentTypeVersion="17" ma:contentTypeDescription="Create a new document." ma:contentTypeScope="" ma:versionID="c183e8ef4075ce3bee142c121839b84b">
  <xsd:schema xmlns:xsd="http://www.w3.org/2001/XMLSchema" xmlns:xs="http://www.w3.org/2001/XMLSchema" xmlns:p="http://schemas.microsoft.com/office/2006/metadata/properties" xmlns:ns1="http://schemas.microsoft.com/sharepoint/v3" xmlns:ns2="d62384bc-84af-4cee-9670-bdd7e3103028" xmlns:ns3="d07a1b0e-5e0d-4395-b8ed-6b7f4c24bf15" targetNamespace="http://schemas.microsoft.com/office/2006/metadata/properties" ma:root="true" ma:fieldsID="54e9e5cb529ceac8d53a7862cdca92d4" ns1:_="" ns2:_="" ns3:_="">
    <xsd:import namespace="http://schemas.microsoft.com/sharepoint/v3"/>
    <xsd:import namespace="d62384bc-84af-4cee-9670-bdd7e3103028"/>
    <xsd:import namespace="d07a1b0e-5e0d-4395-b8ed-6b7f4c24bf1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1:_ip_UnifiedCompliancePolicyProperties" minOccurs="0"/>
                <xsd:element ref="ns1:_ip_UnifiedCompliancePolicyUIAction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4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5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2384bc-84af-4cee-9670-bdd7e310302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acb3148-5304-4beb-92c5-86c952aca73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2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07a1b0e-5e0d-4395-b8ed-6b7f4c24bf15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8" nillable="true" ma:displayName="Taxonomy Catch All Column" ma:hidden="true" ma:list="{d98bf23e-96a5-4ebc-af27-c0a9078782cb}" ma:internalName="TaxCatchAll" ma:showField="CatchAllData" ma:web="d07a1b0e-5e0d-4395-b8ed-6b7f4c24bf1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5EFF965-3DAD-4E9F-8D69-5F2B3B89DD7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9AC1CA5-8FCD-495E-B5D4-49BDB35E6CAE}">
  <ds:schemaRefs>
    <ds:schemaRef ds:uri="http://schemas.microsoft.com/office/2006/metadata/properties"/>
    <ds:schemaRef ds:uri="http://purl.org/dc/elements/1.1/"/>
    <ds:schemaRef ds:uri="http://schemas.microsoft.com/office/2006/documentManagement/types"/>
    <ds:schemaRef ds:uri="http://schemas.microsoft.com/sharepoint/v3"/>
    <ds:schemaRef ds:uri="d07a1b0e-5e0d-4395-b8ed-6b7f4c24bf15"/>
    <ds:schemaRef ds:uri="http://purl.org/dc/terms/"/>
    <ds:schemaRef ds:uri="d62384bc-84af-4cee-9670-bdd7e3103028"/>
    <ds:schemaRef ds:uri="http://schemas.openxmlformats.org/package/2006/metadata/core-properti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4A3CC44E-B3E3-41A8-B603-767B22C60C76}">
  <ds:schemaRefs>
    <ds:schemaRef ds:uri="d07a1b0e-5e0d-4395-b8ed-6b7f4c24bf15"/>
    <ds:schemaRef ds:uri="d62384bc-84af-4cee-9670-bdd7e310302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625</Words>
  <Application>Microsoft Office PowerPoint</Application>
  <PresentationFormat>Panorámica</PresentationFormat>
  <Paragraphs>97</Paragraphs>
  <Slides>9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Dosis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Nikolas Buitrago</dc:creator>
  <cp:lastModifiedBy>Nikolas Buitrago</cp:lastModifiedBy>
  <cp:revision>1</cp:revision>
  <dcterms:created xsi:type="dcterms:W3CDTF">2025-01-21T03:31:03Z</dcterms:created>
  <dcterms:modified xsi:type="dcterms:W3CDTF">2025-05-06T13:29:54Z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0x010100BE9C3C2A87D08D409B3F8E77471845A6</vt:lpwstr>
  </property>
  <property fmtid="{D5CDD505-2E9C-101B-9397-08002B2CF9AE}" pid="3" name="MediaServiceImageTags">
    <vt:lpwstr/>
  </property>
</Properties>
</file>