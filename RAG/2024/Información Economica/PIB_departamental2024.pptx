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965A6-090E-4B40-84AA-74A868FB2936}" v="12" dt="2025-05-30T21:16:45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ula Moreno" userId="7f06c5a4-f807-4a12-9115-03c525bf8f95" providerId="ADAL" clId="{0D9965A6-090E-4B40-84AA-74A868FB2936}"/>
    <pc:docChg chg="custSel addSld modSld">
      <pc:chgData name="Maria Paula Moreno" userId="7f06c5a4-f807-4a12-9115-03c525bf8f95" providerId="ADAL" clId="{0D9965A6-090E-4B40-84AA-74A868FB2936}" dt="2025-05-30T21:18:11.186" v="172" actId="20577"/>
      <pc:docMkLst>
        <pc:docMk/>
      </pc:docMkLst>
      <pc:sldChg chg="addSp modSp">
        <pc:chgData name="Maria Paula Moreno" userId="7f06c5a4-f807-4a12-9115-03c525bf8f95" providerId="ADAL" clId="{0D9965A6-090E-4B40-84AA-74A868FB2936}" dt="2025-05-30T21:10:31.423" v="1"/>
        <pc:sldMkLst>
          <pc:docMk/>
          <pc:sldMk cId="1124372178" sldId="256"/>
        </pc:sldMkLst>
        <pc:graphicFrameChg chg="add mod">
          <ac:chgData name="Maria Paula Moreno" userId="7f06c5a4-f807-4a12-9115-03c525bf8f95" providerId="ADAL" clId="{0D9965A6-090E-4B40-84AA-74A868FB2936}" dt="2025-05-30T21:10:31.423" v="1"/>
          <ac:graphicFrameMkLst>
            <pc:docMk/>
            <pc:sldMk cId="1124372178" sldId="256"/>
            <ac:graphicFrameMk id="2" creationId="{59E2A888-1DBD-6B4B-473C-59D40B206811}"/>
          </ac:graphicFrameMkLst>
        </pc:graphicFrameChg>
      </pc:sldChg>
      <pc:sldChg chg="addSp delSp modSp add mod">
        <pc:chgData name="Maria Paula Moreno" userId="7f06c5a4-f807-4a12-9115-03c525bf8f95" providerId="ADAL" clId="{0D9965A6-090E-4B40-84AA-74A868FB2936}" dt="2025-05-30T21:18:11.186" v="172" actId="20577"/>
        <pc:sldMkLst>
          <pc:docMk/>
          <pc:sldMk cId="2561054799" sldId="257"/>
        </pc:sldMkLst>
        <pc:spChg chg="mod">
          <ac:chgData name="Maria Paula Moreno" userId="7f06c5a4-f807-4a12-9115-03c525bf8f95" providerId="ADAL" clId="{0D9965A6-090E-4B40-84AA-74A868FB2936}" dt="2025-05-30T21:12:09.237" v="28" actId="20577"/>
          <ac:spMkLst>
            <pc:docMk/>
            <pc:sldMk cId="2561054799" sldId="257"/>
            <ac:spMk id="10" creationId="{41D73FAA-9C50-D8C7-74CE-903D21B0D590}"/>
          </ac:spMkLst>
        </pc:spChg>
        <pc:spChg chg="mod">
          <ac:chgData name="Maria Paula Moreno" userId="7f06c5a4-f807-4a12-9115-03c525bf8f95" providerId="ADAL" clId="{0D9965A6-090E-4B40-84AA-74A868FB2936}" dt="2025-05-30T21:18:11.186" v="172" actId="20577"/>
          <ac:spMkLst>
            <pc:docMk/>
            <pc:sldMk cId="2561054799" sldId="257"/>
            <ac:spMk id="12" creationId="{63172FE9-6C70-20B5-9558-543BAB1C957E}"/>
          </ac:spMkLst>
        </pc:spChg>
        <pc:graphicFrameChg chg="add mod">
          <ac:chgData name="Maria Paula Moreno" userId="7f06c5a4-f807-4a12-9115-03c525bf8f95" providerId="ADAL" clId="{0D9965A6-090E-4B40-84AA-74A868FB2936}" dt="2025-05-30T21:16:02.043" v="114" actId="207"/>
          <ac:graphicFrameMkLst>
            <pc:docMk/>
            <pc:sldMk cId="2561054799" sldId="257"/>
            <ac:graphicFrameMk id="2" creationId="{59E2A888-1DBD-6B4B-473C-59D40B206811}"/>
          </ac:graphicFrameMkLst>
        </pc:graphicFrameChg>
        <pc:graphicFrameChg chg="del">
          <ac:chgData name="Maria Paula Moreno" userId="7f06c5a4-f807-4a12-9115-03c525bf8f95" providerId="ADAL" clId="{0D9965A6-090E-4B40-84AA-74A868FB2936}" dt="2025-05-30T21:10:49.319" v="3" actId="478"/>
          <ac:graphicFrameMkLst>
            <pc:docMk/>
            <pc:sldMk cId="2561054799" sldId="257"/>
            <ac:graphicFrameMk id="4" creationId="{E7795B27-0AFB-BE24-C1C9-DCBE2D9DDF8E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Crec anual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4"/>
            <c:invertIfNegative val="0"/>
            <c:bubble3D val="0"/>
            <c:spPr>
              <a:solidFill>
                <a:schemeClr val="accent4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EF-459E-A4CD-E182B223044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Hoja1!$A$2:$A$35</c:f>
              <c:strCache>
                <c:ptCount val="34"/>
                <c:pt idx="0">
                  <c:v>La Guajira</c:v>
                </c:pt>
                <c:pt idx="1">
                  <c:v>Cesar</c:v>
                </c:pt>
                <c:pt idx="2">
                  <c:v>San Andrés, Providencia y Santa Catalina (Archipiélago)</c:v>
                </c:pt>
                <c:pt idx="3">
                  <c:v>Putumayo</c:v>
                </c:pt>
                <c:pt idx="4">
                  <c:v>Guainía</c:v>
                </c:pt>
                <c:pt idx="5">
                  <c:v>Casanare</c:v>
                </c:pt>
                <c:pt idx="6">
                  <c:v>Bolívar</c:v>
                </c:pt>
                <c:pt idx="7">
                  <c:v>Sucre</c:v>
                </c:pt>
                <c:pt idx="8">
                  <c:v>Amazonas</c:v>
                </c:pt>
                <c:pt idx="9">
                  <c:v>Atlántico</c:v>
                </c:pt>
                <c:pt idx="10">
                  <c:v>Boyacá</c:v>
                </c:pt>
                <c:pt idx="11">
                  <c:v>Cundinamarca</c:v>
                </c:pt>
                <c:pt idx="12">
                  <c:v>Risaralda</c:v>
                </c:pt>
                <c:pt idx="13">
                  <c:v>Chocó</c:v>
                </c:pt>
                <c:pt idx="14">
                  <c:v>Nacional</c:v>
                </c:pt>
                <c:pt idx="15">
                  <c:v>Vaupés</c:v>
                </c:pt>
                <c:pt idx="16">
                  <c:v>Norte de Santander</c:v>
                </c:pt>
                <c:pt idx="17">
                  <c:v>Magdalena</c:v>
                </c:pt>
                <c:pt idx="18">
                  <c:v>Santander</c:v>
                </c:pt>
                <c:pt idx="19">
                  <c:v>Bogotá D.C.</c:v>
                </c:pt>
                <c:pt idx="20">
                  <c:v>Córdoba</c:v>
                </c:pt>
                <c:pt idx="21">
                  <c:v>Antioquia</c:v>
                </c:pt>
                <c:pt idx="22">
                  <c:v>Valle del Cauca</c:v>
                </c:pt>
                <c:pt idx="23">
                  <c:v>Caquetá</c:v>
                </c:pt>
                <c:pt idx="24">
                  <c:v>Quindío</c:v>
                </c:pt>
                <c:pt idx="25">
                  <c:v>Nariño</c:v>
                </c:pt>
                <c:pt idx="26">
                  <c:v>Caldas</c:v>
                </c:pt>
                <c:pt idx="27">
                  <c:v>Meta</c:v>
                </c:pt>
                <c:pt idx="28">
                  <c:v>Cauca</c:v>
                </c:pt>
                <c:pt idx="29">
                  <c:v>Tolima</c:v>
                </c:pt>
                <c:pt idx="30">
                  <c:v>Vichada</c:v>
                </c:pt>
                <c:pt idx="31">
                  <c:v>Guaviare</c:v>
                </c:pt>
                <c:pt idx="32">
                  <c:v>Huila</c:v>
                </c:pt>
                <c:pt idx="33">
                  <c:v>Arauca</c:v>
                </c:pt>
              </c:strCache>
            </c:strRef>
          </c:cat>
          <c:val>
            <c:numRef>
              <c:f>Hoja1!$B$2:$B$35</c:f>
              <c:numCache>
                <c:formatCode>0.0%</c:formatCode>
                <c:ptCount val="34"/>
                <c:pt idx="0">
                  <c:v>-4.7630069515136264E-2</c:v>
                </c:pt>
                <c:pt idx="1">
                  <c:v>-4.3879697229387671E-2</c:v>
                </c:pt>
                <c:pt idx="2">
                  <c:v>-9.9814512072082806E-5</c:v>
                </c:pt>
                <c:pt idx="3">
                  <c:v>1.5007882303779141E-3</c:v>
                </c:pt>
                <c:pt idx="4">
                  <c:v>3.3201769553887761E-3</c:v>
                </c:pt>
                <c:pt idx="5">
                  <c:v>7.0970961380338871E-3</c:v>
                </c:pt>
                <c:pt idx="6">
                  <c:v>7.2950147765091788E-3</c:v>
                </c:pt>
                <c:pt idx="7">
                  <c:v>9.0559395574656421E-3</c:v>
                </c:pt>
                <c:pt idx="8">
                  <c:v>9.1477230895780082E-3</c:v>
                </c:pt>
                <c:pt idx="9">
                  <c:v>1.0273793248432694E-2</c:v>
                </c:pt>
                <c:pt idx="10">
                  <c:v>1.0329539139051436E-2</c:v>
                </c:pt>
                <c:pt idx="11">
                  <c:v>1.4390549278623599E-2</c:v>
                </c:pt>
                <c:pt idx="12">
                  <c:v>1.4579145502289004E-2</c:v>
                </c:pt>
                <c:pt idx="13">
                  <c:v>1.5008109394077485E-2</c:v>
                </c:pt>
                <c:pt idx="14">
                  <c:v>1.5982818520543951E-2</c:v>
                </c:pt>
                <c:pt idx="15">
                  <c:v>1.6113357204854628E-2</c:v>
                </c:pt>
                <c:pt idx="16">
                  <c:v>1.7225640591969293E-2</c:v>
                </c:pt>
                <c:pt idx="17">
                  <c:v>1.7712413139941763E-2</c:v>
                </c:pt>
                <c:pt idx="18">
                  <c:v>1.7715826719093997E-2</c:v>
                </c:pt>
                <c:pt idx="19">
                  <c:v>1.9385535935961373E-2</c:v>
                </c:pt>
                <c:pt idx="20">
                  <c:v>1.9428650538326764E-2</c:v>
                </c:pt>
                <c:pt idx="21">
                  <c:v>1.9759547674626621E-2</c:v>
                </c:pt>
                <c:pt idx="22">
                  <c:v>2.0397874751078238E-2</c:v>
                </c:pt>
                <c:pt idx="23">
                  <c:v>2.1127865378421928E-2</c:v>
                </c:pt>
                <c:pt idx="24">
                  <c:v>2.197458989208112E-2</c:v>
                </c:pt>
                <c:pt idx="25">
                  <c:v>2.2206754049698407E-2</c:v>
                </c:pt>
                <c:pt idx="26">
                  <c:v>2.2451897920709341E-2</c:v>
                </c:pt>
                <c:pt idx="27">
                  <c:v>2.2707263709260239E-2</c:v>
                </c:pt>
                <c:pt idx="28">
                  <c:v>2.3892502270381533E-2</c:v>
                </c:pt>
                <c:pt idx="29">
                  <c:v>2.5056568969683113E-2</c:v>
                </c:pt>
                <c:pt idx="30">
                  <c:v>2.8850006964715735E-2</c:v>
                </c:pt>
                <c:pt idx="31">
                  <c:v>2.9562812325298671E-2</c:v>
                </c:pt>
                <c:pt idx="32">
                  <c:v>3.0175689686250617E-2</c:v>
                </c:pt>
                <c:pt idx="33">
                  <c:v>3.6774692526962749E-2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EF-459E-A4CD-E182B2230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46908047"/>
        <c:axId val="746897007"/>
      </c:barChart>
      <c:catAx>
        <c:axId val="74690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46897007"/>
        <c:crosses val="autoZero"/>
        <c:auto val="1"/>
        <c:lblAlgn val="ctr"/>
        <c:lblOffset val="100"/>
        <c:noMultiLvlLbl val="0"/>
      </c:catAx>
      <c:valAx>
        <c:axId val="746897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46908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Dosis" pitchFamily="2" charset="0"/>
        </a:defRPr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Construcción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invertIfNegative val="0"/>
          <c:dPt>
            <c:idx val="2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D7A-43CF-BA8C-DDF596D2DA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Hoja1!$A$2:$A$35</c:f>
              <c:strCache>
                <c:ptCount val="34"/>
                <c:pt idx="0">
                  <c:v>Quindío</c:v>
                </c:pt>
                <c:pt idx="1">
                  <c:v>Nariño</c:v>
                </c:pt>
                <c:pt idx="2">
                  <c:v>Guainía</c:v>
                </c:pt>
                <c:pt idx="3">
                  <c:v>Risaralda</c:v>
                </c:pt>
                <c:pt idx="4">
                  <c:v>San Andrés, Providencia y Santa Catalina (Archipiélago)</c:v>
                </c:pt>
                <c:pt idx="5">
                  <c:v>Sucre</c:v>
                </c:pt>
                <c:pt idx="6">
                  <c:v>Vichada</c:v>
                </c:pt>
                <c:pt idx="7">
                  <c:v>Cundinamarca</c:v>
                </c:pt>
                <c:pt idx="8">
                  <c:v>Caldas</c:v>
                </c:pt>
                <c:pt idx="9">
                  <c:v>Valle del Cauca</c:v>
                </c:pt>
                <c:pt idx="10">
                  <c:v>Arauca</c:v>
                </c:pt>
                <c:pt idx="11">
                  <c:v>Chocó</c:v>
                </c:pt>
                <c:pt idx="12">
                  <c:v>Tolima</c:v>
                </c:pt>
                <c:pt idx="13">
                  <c:v>Guaviare</c:v>
                </c:pt>
                <c:pt idx="14">
                  <c:v>Norte de Santander</c:v>
                </c:pt>
                <c:pt idx="15">
                  <c:v>Boyacá</c:v>
                </c:pt>
                <c:pt idx="16">
                  <c:v>Amazonas</c:v>
                </c:pt>
                <c:pt idx="17">
                  <c:v>Cauca</c:v>
                </c:pt>
                <c:pt idx="18">
                  <c:v>Cesar</c:v>
                </c:pt>
                <c:pt idx="19">
                  <c:v>Caquetá</c:v>
                </c:pt>
                <c:pt idx="20">
                  <c:v>Magdalena</c:v>
                </c:pt>
                <c:pt idx="21">
                  <c:v>Nacional</c:v>
                </c:pt>
                <c:pt idx="22">
                  <c:v>La Guajira</c:v>
                </c:pt>
                <c:pt idx="23">
                  <c:v>Santander</c:v>
                </c:pt>
                <c:pt idx="24">
                  <c:v>Atlántico</c:v>
                </c:pt>
                <c:pt idx="25">
                  <c:v>Bolívar</c:v>
                </c:pt>
                <c:pt idx="26">
                  <c:v>Córdoba</c:v>
                </c:pt>
                <c:pt idx="27">
                  <c:v>Putumayo</c:v>
                </c:pt>
                <c:pt idx="28">
                  <c:v>Vaupés</c:v>
                </c:pt>
                <c:pt idx="29">
                  <c:v>Huila</c:v>
                </c:pt>
                <c:pt idx="30">
                  <c:v>Meta</c:v>
                </c:pt>
                <c:pt idx="31">
                  <c:v>Bogotá D.C.</c:v>
                </c:pt>
                <c:pt idx="32">
                  <c:v>Casanare</c:v>
                </c:pt>
                <c:pt idx="33">
                  <c:v>Antioquia</c:v>
                </c:pt>
              </c:strCache>
            </c:strRef>
          </c:cat>
          <c:val>
            <c:numRef>
              <c:f>Hoja1!$B$2:$B$35</c:f>
              <c:numCache>
                <c:formatCode>0.0%</c:formatCode>
                <c:ptCount val="34"/>
                <c:pt idx="0">
                  <c:v>-7.4335759944791913E-2</c:v>
                </c:pt>
                <c:pt idx="1">
                  <c:v>-4.2468801336158157E-2</c:v>
                </c:pt>
                <c:pt idx="2">
                  <c:v>-1.8977918541163596E-2</c:v>
                </c:pt>
                <c:pt idx="3">
                  <c:v>-1.8919673916440116E-2</c:v>
                </c:pt>
                <c:pt idx="4">
                  <c:v>-1.5010956245646079E-2</c:v>
                </c:pt>
                <c:pt idx="5">
                  <c:v>-3.9400485406475561E-3</c:v>
                </c:pt>
                <c:pt idx="6">
                  <c:v>3.6723863223298014E-3</c:v>
                </c:pt>
                <c:pt idx="7">
                  <c:v>9.5540056578637955E-3</c:v>
                </c:pt>
                <c:pt idx="8">
                  <c:v>9.5898886992336063E-3</c:v>
                </c:pt>
                <c:pt idx="9">
                  <c:v>1.8126225272664609E-2</c:v>
                </c:pt>
                <c:pt idx="10">
                  <c:v>2.0923877788809886E-2</c:v>
                </c:pt>
                <c:pt idx="11">
                  <c:v>2.2905117453151824E-2</c:v>
                </c:pt>
                <c:pt idx="12">
                  <c:v>2.3841331281597711E-2</c:v>
                </c:pt>
                <c:pt idx="13">
                  <c:v>2.6688945118681806E-2</c:v>
                </c:pt>
                <c:pt idx="14">
                  <c:v>3.1897713960505891E-2</c:v>
                </c:pt>
                <c:pt idx="15">
                  <c:v>3.9786441436851616E-2</c:v>
                </c:pt>
                <c:pt idx="16">
                  <c:v>4.3451210080692082E-2</c:v>
                </c:pt>
                <c:pt idx="17">
                  <c:v>5.6200727299363429E-2</c:v>
                </c:pt>
                <c:pt idx="18">
                  <c:v>7.9938654406880749E-2</c:v>
                </c:pt>
                <c:pt idx="19">
                  <c:v>9.4081805815844133E-2</c:v>
                </c:pt>
                <c:pt idx="20">
                  <c:v>9.886180323237892E-2</c:v>
                </c:pt>
                <c:pt idx="21">
                  <c:v>0.1097155500369611</c:v>
                </c:pt>
                <c:pt idx="22">
                  <c:v>0.11209592090378018</c:v>
                </c:pt>
                <c:pt idx="23">
                  <c:v>0.11389154839888427</c:v>
                </c:pt>
                <c:pt idx="24">
                  <c:v>0.11568505173519528</c:v>
                </c:pt>
                <c:pt idx="25">
                  <c:v>0.11673888419321488</c:v>
                </c:pt>
                <c:pt idx="26">
                  <c:v>0.13009544921367255</c:v>
                </c:pt>
                <c:pt idx="27">
                  <c:v>0.13030622232515965</c:v>
                </c:pt>
                <c:pt idx="28">
                  <c:v>0.13169305652127528</c:v>
                </c:pt>
                <c:pt idx="29">
                  <c:v>0.14993088414731304</c:v>
                </c:pt>
                <c:pt idx="30">
                  <c:v>0.15543492315595797</c:v>
                </c:pt>
                <c:pt idx="31">
                  <c:v>0.1696535500201839</c:v>
                </c:pt>
                <c:pt idx="32">
                  <c:v>0.19536586951766588</c:v>
                </c:pt>
                <c:pt idx="33">
                  <c:v>0.2567103224751679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A-43CF-BA8C-DDF596D2D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46908047"/>
        <c:axId val="746897007"/>
      </c:barChart>
      <c:catAx>
        <c:axId val="746908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46897007"/>
        <c:crosses val="autoZero"/>
        <c:auto val="1"/>
        <c:lblAlgn val="ctr"/>
        <c:lblOffset val="100"/>
        <c:noMultiLvlLbl val="0"/>
      </c:catAx>
      <c:valAx>
        <c:axId val="746897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46908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latin typeface="Dosis" pitchFamily="2" charset="0"/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A000A-354A-416D-B4F8-1F947DE0CF1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3DC35-2884-4FAF-8D28-91610433FB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491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C35-2884-4FAF-8D28-91610433FB59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1851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FAFE-426F-8A1B-28EC-2F2DD4E7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055A34-30FC-5A58-0089-1729625BA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9B8E55-5B7B-93C6-5B20-98BCD1687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B70417-03C4-B6F8-F5F7-4F73E25C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C35-2884-4FAF-8D28-91610433FB59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5064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356B7-AD7B-4024-9C8A-6C31F7361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2C8E68-EAB7-7E6A-1B5B-027015D84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744B65-8BD3-E80B-8A61-7AACA47A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F9669-5ADE-1BF6-928E-53595B29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40AB5-042C-CCC2-E4E6-C2F98A1F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40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60CAA-401D-AAC6-94B0-DBD96749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BACA4-F753-D79D-3D7B-33D459E3C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4F37C-B7EC-16AA-1324-8A6F1D24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239CA-0EDB-404C-A617-25C92801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14C73A-86B5-C08B-4178-79F25074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258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C295E-75DE-0721-99FF-76213C72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2E5E1F-9331-D191-C0D6-E1DE61D6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E6C4F-FB1A-051B-F8DB-1D7E139C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AEFD2-7169-EE74-255A-6C2DB35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285D90-960F-CF8E-DA7E-D2973BA8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06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E62D2-BD18-77B4-1BC5-CDBAA8E9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B376D-73B0-6734-E23D-7DE385E14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78B205-05E0-3816-C70A-C1337D7D4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FA489F-3458-3FE1-AB83-0B6A6F079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6AA6B6-287A-F1A7-91C3-04889509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8764FC-6293-2976-8DF8-7F58F10E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69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0B156-50F8-6C3B-1463-FFB2C9B9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4DFAED-A8FE-AE8B-874F-2C22C8131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027D03-C4FF-EB90-18F1-CEDB57958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A67693-C674-D711-DD20-EB711FBB8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5D115C-C96F-8281-EA58-CD8B4B2AA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164B7A-569B-C26C-CE95-67E38773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F0581C-1545-9EEB-FEA0-562DD51A5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6F4FF1-B081-02C6-C4B2-8F2154B1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258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1A6C6-12E3-299E-EC8F-2C231BAA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FCC823-510D-270C-CF82-278BBE8F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BB646B-CE61-50C2-3EF3-8539CBC5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2B7399-C679-B61A-8BEA-71C0CFEF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12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2EC900-C0CE-17D1-D2AB-88DB2020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B8F935-726F-1A13-F0F5-723C4E8F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ED580E-F58F-D3CC-9E28-E0BBC41A1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160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617F8-C891-732D-2B00-6C3F9740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B2DF6-4B26-AAED-CF23-E69820A47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C44B44-EB4A-85EB-89C3-B517E9B7D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784E84-7C00-7059-DB10-2076DC47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7B86B1-B21C-A5E9-E033-EE25B259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0E74D-74B0-43E0-BEBC-CD32595F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005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D160C-BB22-F934-D637-C9B239DD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A6667A-B409-78B9-2A13-B353B3884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C064F9-4543-315D-2A1F-F2B5D02C1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B06797-4FE6-3BA5-B07C-CBBFBB21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834524-470B-5F28-7815-F78AAA1F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3F2431-0C10-5CF5-6617-4AAB7E88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745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71313-6BD0-DC7A-3588-4BD438D2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176D0A-4FC2-3676-0FF1-0561B0C4C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B9DD2-10CF-73C3-3A13-5F54FDED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A5197C-87CC-710F-B37C-D290D966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8078BF-8ED9-668D-3242-9CD81549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386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B480BB-0B01-C887-F5A8-5B44273C8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BD6877-FD9F-E29E-F5C8-A6AE8B390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076872-EE0A-95C3-75B5-E758F2283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72EACF-EE91-97C5-12E6-0D32668A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1D79DA-B1C5-3BC5-ADE4-B302AF4E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49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142C7A-5CF2-B88A-A19B-C332A499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52FEB-4B91-7EF8-CB7F-BDD63C489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B5A24-5922-AA2B-E5A8-536A9D866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6E80B-331A-4058-B55C-16A644ED2F78}" type="datetimeFigureOut">
              <a:rPr lang="es-CO" smtClean="0"/>
              <a:t>30/05/2025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658797-9243-673E-D30E-46EE9BB1B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FE3346-0985-3C05-209C-FB03561CC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E96A6-886C-4FD7-968A-63242E3F5C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326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9E2A888-1DBD-6B4B-473C-59D40B2068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1167145"/>
              </p:ext>
            </p:extLst>
          </p:nvPr>
        </p:nvGraphicFramePr>
        <p:xfrm>
          <a:off x="1279993" y="493500"/>
          <a:ext cx="10031718" cy="5346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oogle Shape;93;p2">
            <a:extLst>
              <a:ext uri="{FF2B5EF4-FFF2-40B4-BE49-F238E27FC236}">
                <a16:creationId xmlns:a16="http://schemas.microsoft.com/office/drawing/2014/main" id="{D9B508B1-DA7A-D0FF-27BB-EF3A8BE076E6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6" name="Google Shape;94;p2">
              <a:extLst>
                <a:ext uri="{FF2B5EF4-FFF2-40B4-BE49-F238E27FC236}">
                  <a16:creationId xmlns:a16="http://schemas.microsoft.com/office/drawing/2014/main" id="{E085444B-2FBB-5EC2-9FAD-1014AAB98A03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95;p2">
              <a:extLst>
                <a:ext uri="{FF2B5EF4-FFF2-40B4-BE49-F238E27FC236}">
                  <a16:creationId xmlns:a16="http://schemas.microsoft.com/office/drawing/2014/main" id="{5747CE13-6B70-FF16-926B-5BD1C36226B5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189;p5">
            <a:extLst>
              <a:ext uri="{FF2B5EF4-FFF2-40B4-BE49-F238E27FC236}">
                <a16:creationId xmlns:a16="http://schemas.microsoft.com/office/drawing/2014/main" id="{0395E591-ACF4-18CB-199E-BEA6B0D11097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D15155-BE22-8B8E-E5D7-8CDC1DA5EF39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42D2D6-77D1-A993-C81B-161D1B6B4F60}"/>
              </a:ext>
            </a:extLst>
          </p:cNvPr>
          <p:cNvSpPr txBox="1"/>
          <p:nvPr/>
        </p:nvSpPr>
        <p:spPr>
          <a:xfrm>
            <a:off x="934719" y="-33288"/>
            <a:ext cx="111876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Crecimiento PIB departamental 2024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 %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7D5143A-CBBE-A917-3096-741B5986A8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12" name="CuadroTexto 3">
            <a:extLst>
              <a:ext uri="{FF2B5EF4-FFF2-40B4-BE49-F238E27FC236}">
                <a16:creationId xmlns:a16="http://schemas.microsoft.com/office/drawing/2014/main" id="{A012ECA1-FA93-A489-8A99-35B008A4AF3A}"/>
              </a:ext>
            </a:extLst>
          </p:cNvPr>
          <p:cNvSpPr txBox="1"/>
          <p:nvPr/>
        </p:nvSpPr>
        <p:spPr>
          <a:xfrm>
            <a:off x="895192" y="5806598"/>
            <a:ext cx="1118765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2024, el PIB de 14 departamentos creció por encima del promedio nacional (1,6%).  Arauca se destacó con el mayor crecimiento anual, al registrar un aumento de 459 mil millones de pesos, equivalente a un 3,7% frente al año anterior.</a:t>
            </a:r>
          </a:p>
        </p:txBody>
      </p:sp>
    </p:spTree>
    <p:extLst>
      <p:ext uri="{BB962C8B-B14F-4D97-AF65-F5344CB8AC3E}">
        <p14:creationId xmlns:p14="http://schemas.microsoft.com/office/powerpoint/2010/main" val="112437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EA44-BA7B-F6F0-3DF3-F7F501B8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93;p2">
            <a:extLst>
              <a:ext uri="{FF2B5EF4-FFF2-40B4-BE49-F238E27FC236}">
                <a16:creationId xmlns:a16="http://schemas.microsoft.com/office/drawing/2014/main" id="{E091B5F1-AFCB-067D-2B3F-3BBFA7EC1F5B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6" name="Google Shape;94;p2">
              <a:extLst>
                <a:ext uri="{FF2B5EF4-FFF2-40B4-BE49-F238E27FC236}">
                  <a16:creationId xmlns:a16="http://schemas.microsoft.com/office/drawing/2014/main" id="{8D9A7055-CEFC-43F7-AE1F-6CB4B041E42E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95;p2">
              <a:extLst>
                <a:ext uri="{FF2B5EF4-FFF2-40B4-BE49-F238E27FC236}">
                  <a16:creationId xmlns:a16="http://schemas.microsoft.com/office/drawing/2014/main" id="{0FA5EED9-45E4-5958-E3AD-FD900CA6C1CE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189;p5">
            <a:extLst>
              <a:ext uri="{FF2B5EF4-FFF2-40B4-BE49-F238E27FC236}">
                <a16:creationId xmlns:a16="http://schemas.microsoft.com/office/drawing/2014/main" id="{A993A507-CF57-7E46-92B0-A6D004A72090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803A37-033D-9248-716B-BD6A1AA1BE93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D73FAA-9C50-D8C7-74CE-903D21B0D590}"/>
              </a:ext>
            </a:extLst>
          </p:cNvPr>
          <p:cNvSpPr txBox="1"/>
          <p:nvPr/>
        </p:nvSpPr>
        <p:spPr>
          <a:xfrm>
            <a:off x="934719" y="-33288"/>
            <a:ext cx="111876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Crecimiento PIB departamental 2024- Construcción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 %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FF9C947-698B-C495-2CDB-3D2F25BB92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12" name="CuadroTexto 3">
            <a:extLst>
              <a:ext uri="{FF2B5EF4-FFF2-40B4-BE49-F238E27FC236}">
                <a16:creationId xmlns:a16="http://schemas.microsoft.com/office/drawing/2014/main" id="{63172FE9-6C70-20B5-9558-543BAB1C957E}"/>
              </a:ext>
            </a:extLst>
          </p:cNvPr>
          <p:cNvSpPr txBox="1"/>
          <p:nvPr/>
        </p:nvSpPr>
        <p:spPr>
          <a:xfrm>
            <a:off x="822960" y="5871914"/>
            <a:ext cx="1136904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2024, en el PIB de la construcción </a:t>
            </a:r>
            <a:r>
              <a:rPr lang="es-ES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21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departamentos crecieron por encima del promedio nacional (11</a:t>
            </a:r>
            <a:r>
              <a:rPr lang="es-ES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,0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%).  </a:t>
            </a:r>
            <a:r>
              <a:rPr lang="es-ES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Antioquia 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se destacó con el mayor crecimiento anual, al registrar un aumento de 2,2 billones de pesos, equivalente a un 25,7% frente al año anterior.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9E2A888-1DBD-6B4B-473C-59D40B2068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638565"/>
              </p:ext>
            </p:extLst>
          </p:nvPr>
        </p:nvGraphicFramePr>
        <p:xfrm>
          <a:off x="1744737" y="519354"/>
          <a:ext cx="9728806" cy="5424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61054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9C3C2A87D08D409B3F8E77471845A6" ma:contentTypeVersion="17" ma:contentTypeDescription="Crear nuevo documento." ma:contentTypeScope="" ma:versionID="0ee07e2035e08a432607ebee78adc5a1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0ac4eff729283a2af01d4b9977f1190e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90203A-DC5C-4890-9562-6A5F373C4754}">
  <ds:schemaRefs>
    <ds:schemaRef ds:uri="http://schemas.microsoft.com/sharepoint/v3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d07a1b0e-5e0d-4395-b8ed-6b7f4c24bf15"/>
    <ds:schemaRef ds:uri="d62384bc-84af-4cee-9670-bdd7e3103028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E6CE226-71F2-447E-98E4-75D133E5D7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6DA430-A199-4389-AFD2-8D421C71FA90}"/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135</Words>
  <Application>Microsoft Office PowerPoint</Application>
  <PresentationFormat>Panorámica</PresentationFormat>
  <Paragraphs>12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Dosis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Paula Moreno</dc:creator>
  <cp:lastModifiedBy>Maria Paula Moreno</cp:lastModifiedBy>
  <cp:revision>2</cp:revision>
  <dcterms:created xsi:type="dcterms:W3CDTF">2025-05-30T19:45:15Z</dcterms:created>
  <dcterms:modified xsi:type="dcterms:W3CDTF">2025-05-30T21:18:16Z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